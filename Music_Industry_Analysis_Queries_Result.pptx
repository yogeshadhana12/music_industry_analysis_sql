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Noto Sans Bold" charset="1" panose="020B0802040504020204"/>
      <p:regular r:id="rId23"/>
    </p:embeddedFont>
    <p:embeddedFont>
      <p:font typeface="Open Sans" charset="1" panose="00000000000000000000"/>
      <p:regular r:id="rId24"/>
    </p:embeddedFont>
    <p:embeddedFont>
      <p:font typeface="Open Sans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28.png" Type="http://schemas.openxmlformats.org/officeDocument/2006/relationships/image"/><Relationship Id="rId12" Target="../media/image29.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30.png" Type="http://schemas.openxmlformats.org/officeDocument/2006/relationships/image"/><Relationship Id="rId12" Target="../media/image31.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32.png" Type="http://schemas.openxmlformats.org/officeDocument/2006/relationships/image"/><Relationship Id="rId12" Target="../media/image33.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34.png" Type="http://schemas.openxmlformats.org/officeDocument/2006/relationships/image"/><Relationship Id="rId12" Target="../media/image35.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38.png" Type="http://schemas.openxmlformats.org/officeDocument/2006/relationships/image"/><Relationship Id="rId12" Target="../media/image39.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40.png" Type="http://schemas.openxmlformats.org/officeDocument/2006/relationships/image"/><Relationship Id="rId12" Target="../media/image41.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42.png" Type="http://schemas.openxmlformats.org/officeDocument/2006/relationships/image"/><Relationship Id="rId12" Target="../media/image43.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44.png" Type="http://schemas.openxmlformats.org/officeDocument/2006/relationships/image"/><Relationship Id="rId12" Target="../media/image45.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4.png" Type="http://schemas.openxmlformats.org/officeDocument/2006/relationships/image"/><Relationship Id="rId14" Target="../media/image5.svg" Type="http://schemas.openxmlformats.org/officeDocument/2006/relationships/image"/><Relationship Id="rId15" Target="../media/image8.png" Type="http://schemas.openxmlformats.org/officeDocument/2006/relationships/image"/><Relationship Id="rId16" Target="../media/image9.svg" Type="http://schemas.openxmlformats.org/officeDocument/2006/relationships/image"/><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1776241">
            <a:off x="617510" y="378164"/>
            <a:ext cx="2356176" cy="3122643"/>
          </a:xfrm>
          <a:custGeom>
            <a:avLst/>
            <a:gdLst/>
            <a:ahLst/>
            <a:cxnLst/>
            <a:rect r="r" b="b" t="t" l="l"/>
            <a:pathLst>
              <a:path h="3122643" w="2356176">
                <a:moveTo>
                  <a:pt x="0" y="0"/>
                </a:moveTo>
                <a:lnTo>
                  <a:pt x="2356176" y="0"/>
                </a:lnTo>
                <a:lnTo>
                  <a:pt x="2356176" y="3122643"/>
                </a:lnTo>
                <a:lnTo>
                  <a:pt x="0" y="31226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763458" y="8179625"/>
            <a:ext cx="9422840" cy="5105466"/>
          </a:xfrm>
          <a:custGeom>
            <a:avLst/>
            <a:gdLst/>
            <a:ahLst/>
            <a:cxnLst/>
            <a:rect r="r" b="b" t="t" l="l"/>
            <a:pathLst>
              <a:path h="5105466" w="9422840">
                <a:moveTo>
                  <a:pt x="0" y="0"/>
                </a:moveTo>
                <a:lnTo>
                  <a:pt x="9422840" y="0"/>
                </a:lnTo>
                <a:lnTo>
                  <a:pt x="9422840" y="5105466"/>
                </a:lnTo>
                <a:lnTo>
                  <a:pt x="0" y="51054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150111" y="-821693"/>
            <a:ext cx="1987778" cy="3293005"/>
          </a:xfrm>
          <a:custGeom>
            <a:avLst/>
            <a:gdLst/>
            <a:ahLst/>
            <a:cxnLst/>
            <a:rect r="r" b="b" t="t" l="l"/>
            <a:pathLst>
              <a:path h="3293005" w="1987778">
                <a:moveTo>
                  <a:pt x="0" y="0"/>
                </a:moveTo>
                <a:lnTo>
                  <a:pt x="1987778" y="0"/>
                </a:lnTo>
                <a:lnTo>
                  <a:pt x="1987778" y="3293006"/>
                </a:lnTo>
                <a:lnTo>
                  <a:pt x="0" y="32930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813122" y="2509413"/>
            <a:ext cx="14661756" cy="6823710"/>
          </a:xfrm>
          <a:prstGeom prst="rect">
            <a:avLst/>
          </a:prstGeom>
        </p:spPr>
        <p:txBody>
          <a:bodyPr anchor="t" rtlCol="false" tIns="0" lIns="0" bIns="0" rIns="0">
            <a:spAutoFit/>
          </a:bodyPr>
          <a:lstStyle/>
          <a:p>
            <a:pPr algn="ctr" marL="0" indent="0" lvl="0">
              <a:lnSpc>
                <a:spcPts val="14039"/>
              </a:lnSpc>
            </a:pPr>
            <a:r>
              <a:rPr lang="en-US" b="true" sz="12000" spc="744" strike="noStrike" u="none">
                <a:solidFill>
                  <a:srgbClr val="FFC033"/>
                </a:solidFill>
                <a:latin typeface="Noto Sans Bold"/>
                <a:ea typeface="Noto Sans Bold"/>
                <a:cs typeface="Noto Sans Bold"/>
                <a:sym typeface="Noto Sans Bold"/>
              </a:rPr>
              <a:t>MUSIC INDUSTRY</a:t>
            </a:r>
          </a:p>
          <a:p>
            <a:pPr algn="ctr" marL="0" indent="0" lvl="0">
              <a:lnSpc>
                <a:spcPts val="14039"/>
              </a:lnSpc>
            </a:pPr>
            <a:r>
              <a:rPr lang="en-US" b="true" sz="12000" spc="744" strike="noStrike" u="none">
                <a:solidFill>
                  <a:srgbClr val="FFC033"/>
                </a:solidFill>
                <a:latin typeface="Noto Sans Bold"/>
                <a:ea typeface="Noto Sans Bold"/>
                <a:cs typeface="Noto Sans Bold"/>
                <a:sym typeface="Noto Sans Bold"/>
              </a:rPr>
              <a:t>DATA ANALYSIS</a:t>
            </a:r>
          </a:p>
          <a:p>
            <a:pPr algn="ctr" marL="0" indent="0" lvl="0">
              <a:lnSpc>
                <a:spcPts val="14039"/>
              </a:lnSpc>
            </a:pPr>
            <a:r>
              <a:rPr lang="en-US" b="true" sz="12000" spc="744" strike="noStrike" u="none">
                <a:solidFill>
                  <a:srgbClr val="FFC033"/>
                </a:solidFill>
                <a:latin typeface="Noto Sans Bold"/>
                <a:ea typeface="Noto Sans Bold"/>
                <a:cs typeface="Noto Sans Bold"/>
                <a:sym typeface="Noto Sans Bold"/>
              </a:rPr>
              <a:t>USING SQL</a:t>
            </a:r>
          </a:p>
          <a:p>
            <a:pPr algn="ctr" marL="0" indent="0" lvl="0">
              <a:lnSpc>
                <a:spcPts val="5850"/>
              </a:lnSpc>
            </a:pPr>
          </a:p>
          <a:p>
            <a:pPr algn="ctr" marL="0" indent="0" lvl="0">
              <a:lnSpc>
                <a:spcPts val="5850"/>
              </a:lnSpc>
            </a:pPr>
          </a:p>
        </p:txBody>
      </p:sp>
      <p:sp>
        <p:nvSpPr>
          <p:cNvPr name="Freeform 7" id="7"/>
          <p:cNvSpPr/>
          <p:nvPr/>
        </p:nvSpPr>
        <p:spPr>
          <a:xfrm flipH="false" flipV="false" rot="0">
            <a:off x="15017113" y="648702"/>
            <a:ext cx="2915529" cy="2581569"/>
          </a:xfrm>
          <a:custGeom>
            <a:avLst/>
            <a:gdLst/>
            <a:ahLst/>
            <a:cxnLst/>
            <a:rect r="r" b="b" t="t" l="l"/>
            <a:pathLst>
              <a:path h="2581569" w="2915529">
                <a:moveTo>
                  <a:pt x="0" y="0"/>
                </a:moveTo>
                <a:lnTo>
                  <a:pt x="2915529" y="0"/>
                </a:lnTo>
                <a:lnTo>
                  <a:pt x="2915529" y="2581568"/>
                </a:lnTo>
                <a:lnTo>
                  <a:pt x="0" y="25815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2321684">
            <a:off x="-1580682" y="8794724"/>
            <a:ext cx="4034394" cy="5885720"/>
          </a:xfrm>
          <a:custGeom>
            <a:avLst/>
            <a:gdLst/>
            <a:ahLst/>
            <a:cxnLst/>
            <a:rect r="r" b="b" t="t" l="l"/>
            <a:pathLst>
              <a:path h="5885720" w="4034394">
                <a:moveTo>
                  <a:pt x="0" y="0"/>
                </a:moveTo>
                <a:lnTo>
                  <a:pt x="4034393" y="0"/>
                </a:lnTo>
                <a:lnTo>
                  <a:pt x="4034393" y="5885720"/>
                </a:lnTo>
                <a:lnTo>
                  <a:pt x="0" y="58857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6348963" y="5143500"/>
            <a:ext cx="3358755" cy="2760286"/>
          </a:xfrm>
          <a:custGeom>
            <a:avLst/>
            <a:gdLst/>
            <a:ahLst/>
            <a:cxnLst/>
            <a:rect r="r" b="b" t="t" l="l"/>
            <a:pathLst>
              <a:path h="2760286" w="3358755">
                <a:moveTo>
                  <a:pt x="0" y="0"/>
                </a:moveTo>
                <a:lnTo>
                  <a:pt x="3358755" y="0"/>
                </a:lnTo>
                <a:lnTo>
                  <a:pt x="3358755" y="2760286"/>
                </a:lnTo>
                <a:lnTo>
                  <a:pt x="0" y="27602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true" flipV="false" rot="0">
            <a:off x="436515" y="5855109"/>
            <a:ext cx="1813122" cy="2324516"/>
          </a:xfrm>
          <a:custGeom>
            <a:avLst/>
            <a:gdLst/>
            <a:ahLst/>
            <a:cxnLst/>
            <a:rect r="r" b="b" t="t" l="l"/>
            <a:pathLst>
              <a:path h="2324516" w="1813122">
                <a:moveTo>
                  <a:pt x="1813122" y="0"/>
                </a:moveTo>
                <a:lnTo>
                  <a:pt x="0" y="0"/>
                </a:lnTo>
                <a:lnTo>
                  <a:pt x="0" y="2324516"/>
                </a:lnTo>
                <a:lnTo>
                  <a:pt x="1813122" y="2324516"/>
                </a:lnTo>
                <a:lnTo>
                  <a:pt x="1813122"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1" id="11"/>
          <p:cNvSpPr txBox="true"/>
          <p:nvPr/>
        </p:nvSpPr>
        <p:spPr>
          <a:xfrm rot="179048">
            <a:off x="2574714" y="8342791"/>
            <a:ext cx="8489204" cy="1082806"/>
          </a:xfrm>
          <a:prstGeom prst="rect">
            <a:avLst/>
          </a:prstGeom>
        </p:spPr>
        <p:txBody>
          <a:bodyPr anchor="t" rtlCol="false" tIns="0" lIns="0" bIns="0" rIns="0">
            <a:spAutoFit/>
          </a:bodyPr>
          <a:lstStyle/>
          <a:p>
            <a:pPr algn="ctr">
              <a:lnSpc>
                <a:spcPts val="4367"/>
              </a:lnSpc>
            </a:pPr>
            <a:r>
              <a:rPr lang="en-US" sz="3119" b="true">
                <a:solidFill>
                  <a:srgbClr val="8D2C91"/>
                </a:solidFill>
                <a:latin typeface="Noto Sans Bold"/>
                <a:ea typeface="Noto Sans Bold"/>
                <a:cs typeface="Noto Sans Bold"/>
                <a:sym typeface="Noto Sans Bold"/>
              </a:rPr>
              <a:t>Data-Driven Insights &amp; Growth Analysis</a:t>
            </a:r>
          </a:p>
          <a:p>
            <a:pPr algn="ctr" marL="0" indent="0" lvl="0">
              <a:lnSpc>
                <a:spcPts val="4367"/>
              </a:lnSpc>
              <a:spcBef>
                <a:spcPct val="0"/>
              </a:spcBef>
            </a:pPr>
            <a:r>
              <a:rPr lang="en-US" b="true" sz="3119">
                <a:solidFill>
                  <a:srgbClr val="8D2C91"/>
                </a:solidFill>
                <a:latin typeface="Noto Sans Bold"/>
                <a:ea typeface="Noto Sans Bold"/>
                <a:cs typeface="Noto Sans Bold"/>
                <a:sym typeface="Noto Sans Bold"/>
              </a:rPr>
              <a:t>Presented by YOGESH ADHANA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grpSp>
        <p:nvGrpSpPr>
          <p:cNvPr name="Group 3" id="3"/>
          <p:cNvGrpSpPr/>
          <p:nvPr/>
        </p:nvGrpSpPr>
        <p:grpSpPr>
          <a:xfrm rot="-95805">
            <a:off x="5098097" y="4591053"/>
            <a:ext cx="8091805" cy="4555391"/>
            <a:chOff x="0" y="0"/>
            <a:chExt cx="2131175" cy="1199774"/>
          </a:xfrm>
        </p:grpSpPr>
        <p:sp>
          <p:nvSpPr>
            <p:cNvPr name="Freeform 4" id="4"/>
            <p:cNvSpPr/>
            <p:nvPr/>
          </p:nvSpPr>
          <p:spPr>
            <a:xfrm flipH="false" flipV="false" rot="0">
              <a:off x="0" y="0"/>
              <a:ext cx="2131175" cy="1199774"/>
            </a:xfrm>
            <a:custGeom>
              <a:avLst/>
              <a:gdLst/>
              <a:ahLst/>
              <a:cxnLst/>
              <a:rect r="r" b="b" t="t" l="l"/>
              <a:pathLst>
                <a:path h="1199774" w="2131175">
                  <a:moveTo>
                    <a:pt x="36357" y="0"/>
                  </a:moveTo>
                  <a:lnTo>
                    <a:pt x="2094818" y="0"/>
                  </a:lnTo>
                  <a:cubicBezTo>
                    <a:pt x="2114898" y="0"/>
                    <a:pt x="2131175" y="16278"/>
                    <a:pt x="2131175" y="36357"/>
                  </a:cubicBezTo>
                  <a:lnTo>
                    <a:pt x="2131175" y="1163417"/>
                  </a:lnTo>
                  <a:cubicBezTo>
                    <a:pt x="2131175" y="1183496"/>
                    <a:pt x="2114898" y="1199774"/>
                    <a:pt x="2094818" y="1199774"/>
                  </a:cubicBezTo>
                  <a:lnTo>
                    <a:pt x="36357" y="1199774"/>
                  </a:lnTo>
                  <a:cubicBezTo>
                    <a:pt x="16278" y="1199774"/>
                    <a:pt x="0" y="1183496"/>
                    <a:pt x="0" y="1163417"/>
                  </a:cubicBezTo>
                  <a:lnTo>
                    <a:pt x="0" y="36357"/>
                  </a:lnTo>
                  <a:cubicBezTo>
                    <a:pt x="0" y="16278"/>
                    <a:pt x="16278" y="0"/>
                    <a:pt x="36357" y="0"/>
                  </a:cubicBezTo>
                  <a:close/>
                </a:path>
              </a:pathLst>
            </a:custGeom>
            <a:solidFill>
              <a:srgbClr val="8D2C91"/>
            </a:solidFill>
            <a:ln w="171450" cap="rnd">
              <a:solidFill>
                <a:srgbClr val="FFC033"/>
              </a:solidFill>
              <a:prstDash val="solid"/>
              <a:round/>
            </a:ln>
          </p:spPr>
        </p:sp>
        <p:sp>
          <p:nvSpPr>
            <p:cNvPr name="TextBox 5" id="5"/>
            <p:cNvSpPr txBox="true"/>
            <p:nvPr/>
          </p:nvSpPr>
          <p:spPr>
            <a:xfrm>
              <a:off x="0" y="-28575"/>
              <a:ext cx="2131175" cy="1228349"/>
            </a:xfrm>
            <a:prstGeom prst="rect">
              <a:avLst/>
            </a:prstGeom>
          </p:spPr>
          <p:txBody>
            <a:bodyPr anchor="ctr" rtlCol="false" tIns="50800" lIns="50800" bIns="50800" rIns="50800"/>
            <a:lstStyle/>
            <a:p>
              <a:pPr algn="ctr">
                <a:lnSpc>
                  <a:spcPts val="2730"/>
                </a:lnSpc>
              </a:pPr>
            </a:p>
          </p:txBody>
        </p:sp>
      </p:grpSp>
      <p:sp>
        <p:nvSpPr>
          <p:cNvPr name="Freeform 6" id="6"/>
          <p:cNvSpPr/>
          <p:nvPr/>
        </p:nvSpPr>
        <p:spPr>
          <a:xfrm flipH="false" flipV="false" rot="0">
            <a:off x="-2797133" y="506753"/>
            <a:ext cx="8409021" cy="9695937"/>
          </a:xfrm>
          <a:custGeom>
            <a:avLst/>
            <a:gdLst/>
            <a:ahLst/>
            <a:cxnLst/>
            <a:rect r="r" b="b" t="t" l="l"/>
            <a:pathLst>
              <a:path h="9695937" w="8409021">
                <a:moveTo>
                  <a:pt x="0" y="0"/>
                </a:moveTo>
                <a:lnTo>
                  <a:pt x="8409022" y="0"/>
                </a:lnTo>
                <a:lnTo>
                  <a:pt x="8409022" y="9695937"/>
                </a:lnTo>
                <a:lnTo>
                  <a:pt x="0" y="9695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028700" y="6130409"/>
            <a:ext cx="3358755" cy="2760286"/>
          </a:xfrm>
          <a:custGeom>
            <a:avLst/>
            <a:gdLst/>
            <a:ahLst/>
            <a:cxnLst/>
            <a:rect r="r" b="b" t="t" l="l"/>
            <a:pathLst>
              <a:path h="2760286" w="3358755">
                <a:moveTo>
                  <a:pt x="3358755" y="0"/>
                </a:moveTo>
                <a:lnTo>
                  <a:pt x="0" y="0"/>
                </a:lnTo>
                <a:lnTo>
                  <a:pt x="0" y="2760286"/>
                </a:lnTo>
                <a:lnTo>
                  <a:pt x="3358755" y="2760286"/>
                </a:lnTo>
                <a:lnTo>
                  <a:pt x="33587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569781">
            <a:off x="14147809" y="5266472"/>
            <a:ext cx="3619105" cy="3204553"/>
          </a:xfrm>
          <a:custGeom>
            <a:avLst/>
            <a:gdLst/>
            <a:ahLst/>
            <a:cxnLst/>
            <a:rect r="r" b="b" t="t" l="l"/>
            <a:pathLst>
              <a:path h="3204553" w="3619105">
                <a:moveTo>
                  <a:pt x="0" y="0"/>
                </a:moveTo>
                <a:lnTo>
                  <a:pt x="3619106" y="0"/>
                </a:lnTo>
                <a:lnTo>
                  <a:pt x="3619106" y="3204554"/>
                </a:lnTo>
                <a:lnTo>
                  <a:pt x="0" y="32045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001538" y="506753"/>
            <a:ext cx="2942033" cy="2942033"/>
          </a:xfrm>
          <a:custGeom>
            <a:avLst/>
            <a:gdLst/>
            <a:ahLst/>
            <a:cxnLst/>
            <a:rect r="r" b="b" t="t" l="l"/>
            <a:pathLst>
              <a:path h="2942033" w="2942033">
                <a:moveTo>
                  <a:pt x="0" y="0"/>
                </a:moveTo>
                <a:lnTo>
                  <a:pt x="2942033" y="0"/>
                </a:lnTo>
                <a:lnTo>
                  <a:pt x="2942033" y="2942034"/>
                </a:lnTo>
                <a:lnTo>
                  <a:pt x="0" y="29420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2074125" y="2542550"/>
            <a:ext cx="14139749" cy="1228724"/>
          </a:xfrm>
          <a:prstGeom prst="rect">
            <a:avLst/>
          </a:prstGeom>
        </p:spPr>
        <p:txBody>
          <a:bodyPr anchor="t" rtlCol="false" tIns="0" lIns="0" bIns="0" rIns="0">
            <a:spAutoFit/>
          </a:bodyPr>
          <a:lstStyle/>
          <a:p>
            <a:pPr algn="ctr" marL="0" indent="0" lvl="0">
              <a:lnSpc>
                <a:spcPts val="8999"/>
              </a:lnSpc>
            </a:pPr>
            <a:r>
              <a:rPr lang="en-US" b="true" sz="9999" spc="-319">
                <a:solidFill>
                  <a:srgbClr val="FFC033"/>
                </a:solidFill>
                <a:latin typeface="Noto Sans Bold"/>
                <a:ea typeface="Noto Sans Bold"/>
                <a:cs typeface="Noto Sans Bold"/>
                <a:sym typeface="Noto Sans Bold"/>
              </a:rPr>
              <a:t>MUSIC DATA ANALYSIS</a:t>
            </a:r>
          </a:p>
        </p:txBody>
      </p:sp>
      <p:sp>
        <p:nvSpPr>
          <p:cNvPr name="TextBox 11" id="11"/>
          <p:cNvSpPr txBox="true"/>
          <p:nvPr/>
        </p:nvSpPr>
        <p:spPr>
          <a:xfrm rot="179048">
            <a:off x="4901629" y="1620784"/>
            <a:ext cx="8489204" cy="811027"/>
          </a:xfrm>
          <a:prstGeom prst="rect">
            <a:avLst/>
          </a:prstGeom>
        </p:spPr>
        <p:txBody>
          <a:bodyPr anchor="t" rtlCol="false" tIns="0" lIns="0" bIns="0" rIns="0">
            <a:spAutoFit/>
          </a:bodyPr>
          <a:lstStyle/>
          <a:p>
            <a:pPr algn="ctr" marL="0" indent="0" lvl="0">
              <a:lnSpc>
                <a:spcPts val="6747"/>
              </a:lnSpc>
              <a:spcBef>
                <a:spcPct val="0"/>
              </a:spcBef>
            </a:pPr>
            <a:r>
              <a:rPr lang="en-US" b="true" sz="4819">
                <a:solidFill>
                  <a:srgbClr val="8D2C91"/>
                </a:solidFill>
                <a:latin typeface="Noto Sans Bold"/>
                <a:ea typeface="Noto Sans Bold"/>
                <a:cs typeface="Noto Sans Bold"/>
                <a:sym typeface="Noto Sans Bold"/>
              </a:rPr>
              <a:t>Objective of</a:t>
            </a:r>
          </a:p>
        </p:txBody>
      </p:sp>
      <p:sp>
        <p:nvSpPr>
          <p:cNvPr name="TextBox 12" id="12"/>
          <p:cNvSpPr txBox="true"/>
          <p:nvPr/>
        </p:nvSpPr>
        <p:spPr>
          <a:xfrm rot="-95805">
            <a:off x="6071463" y="5392184"/>
            <a:ext cx="6149161" cy="3114676"/>
          </a:xfrm>
          <a:prstGeom prst="rect">
            <a:avLst/>
          </a:prstGeom>
        </p:spPr>
        <p:txBody>
          <a:bodyPr anchor="t" rtlCol="false" tIns="0" lIns="0" bIns="0" rIns="0">
            <a:spAutoFit/>
          </a:bodyPr>
          <a:lstStyle/>
          <a:p>
            <a:pPr algn="just">
              <a:lnSpc>
                <a:spcPts val="4199"/>
              </a:lnSpc>
            </a:pPr>
            <a:r>
              <a:rPr lang="en-US" sz="2999">
                <a:solidFill>
                  <a:srgbClr val="FFFFFF"/>
                </a:solidFill>
                <a:latin typeface="Open Sans"/>
                <a:ea typeface="Open Sans"/>
                <a:cs typeface="Open Sans"/>
                <a:sym typeface="Open Sans"/>
              </a:rPr>
              <a:t>To analyze music store sales data using SQL in order to identify revenue drivers, customer behavior, and genre trends, and translate data findings into actionable business insights.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6581295"/>
            <a:chOff x="0" y="0"/>
            <a:chExt cx="2049569" cy="1733345"/>
          </a:xfrm>
        </p:grpSpPr>
        <p:sp>
          <p:nvSpPr>
            <p:cNvPr name="Freeform 5" id="5"/>
            <p:cNvSpPr/>
            <p:nvPr/>
          </p:nvSpPr>
          <p:spPr>
            <a:xfrm flipH="false" flipV="false" rot="0">
              <a:off x="0" y="0"/>
              <a:ext cx="2049569" cy="1733345"/>
            </a:xfrm>
            <a:custGeom>
              <a:avLst/>
              <a:gdLst/>
              <a:ahLst/>
              <a:cxnLst/>
              <a:rect r="r" b="b" t="t" l="l"/>
              <a:pathLst>
                <a:path h="1733345" w="2049569">
                  <a:moveTo>
                    <a:pt x="37804" y="0"/>
                  </a:moveTo>
                  <a:lnTo>
                    <a:pt x="2011765" y="0"/>
                  </a:lnTo>
                  <a:cubicBezTo>
                    <a:pt x="2032644" y="0"/>
                    <a:pt x="2049569" y="16926"/>
                    <a:pt x="2049569" y="37804"/>
                  </a:cubicBezTo>
                  <a:lnTo>
                    <a:pt x="2049569" y="1695541"/>
                  </a:lnTo>
                  <a:cubicBezTo>
                    <a:pt x="2049569" y="1705567"/>
                    <a:pt x="2045586" y="1715183"/>
                    <a:pt x="2038497" y="1722273"/>
                  </a:cubicBezTo>
                  <a:cubicBezTo>
                    <a:pt x="2031407" y="1729362"/>
                    <a:pt x="2021791" y="1733345"/>
                    <a:pt x="2011765" y="1733345"/>
                  </a:cubicBezTo>
                  <a:lnTo>
                    <a:pt x="37804" y="1733345"/>
                  </a:lnTo>
                  <a:cubicBezTo>
                    <a:pt x="27778" y="1733345"/>
                    <a:pt x="18162" y="1729362"/>
                    <a:pt x="11073" y="1722273"/>
                  </a:cubicBezTo>
                  <a:cubicBezTo>
                    <a:pt x="3983" y="1715183"/>
                    <a:pt x="0" y="1705567"/>
                    <a:pt x="0" y="1695541"/>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76192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6581295"/>
            <a:chOff x="0" y="0"/>
            <a:chExt cx="1940463" cy="1733345"/>
          </a:xfrm>
        </p:grpSpPr>
        <p:sp>
          <p:nvSpPr>
            <p:cNvPr name="Freeform 8" id="8"/>
            <p:cNvSpPr/>
            <p:nvPr/>
          </p:nvSpPr>
          <p:spPr>
            <a:xfrm flipH="false" flipV="false" rot="0">
              <a:off x="0" y="0"/>
              <a:ext cx="1940463" cy="1733345"/>
            </a:xfrm>
            <a:custGeom>
              <a:avLst/>
              <a:gdLst/>
              <a:ahLst/>
              <a:cxnLst/>
              <a:rect r="r" b="b" t="t" l="l"/>
              <a:pathLst>
                <a:path h="1733345" w="1940463">
                  <a:moveTo>
                    <a:pt x="39930" y="0"/>
                  </a:moveTo>
                  <a:lnTo>
                    <a:pt x="1900533" y="0"/>
                  </a:lnTo>
                  <a:cubicBezTo>
                    <a:pt x="1922585" y="0"/>
                    <a:pt x="1940463" y="17877"/>
                    <a:pt x="1940463" y="39930"/>
                  </a:cubicBezTo>
                  <a:lnTo>
                    <a:pt x="1940463" y="1693415"/>
                  </a:lnTo>
                  <a:cubicBezTo>
                    <a:pt x="1940463" y="1715468"/>
                    <a:pt x="1922585" y="1733345"/>
                    <a:pt x="1900533" y="1733345"/>
                  </a:cubicBezTo>
                  <a:lnTo>
                    <a:pt x="39930" y="1733345"/>
                  </a:lnTo>
                  <a:cubicBezTo>
                    <a:pt x="17877" y="1733345"/>
                    <a:pt x="0" y="1715468"/>
                    <a:pt x="0" y="169341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76192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2074125" y="1257300"/>
            <a:ext cx="14139749" cy="990601"/>
          </a:xfrm>
          <a:prstGeom prst="rect">
            <a:avLst/>
          </a:prstGeom>
        </p:spPr>
        <p:txBody>
          <a:bodyPr anchor="t" rtlCol="false" tIns="0" lIns="0" bIns="0" rIns="0">
            <a:spAutoFit/>
          </a:bodyPr>
          <a:lstStyle/>
          <a:p>
            <a:pPr algn="ctr" marL="0" indent="0" lvl="0">
              <a:lnSpc>
                <a:spcPts val="7200"/>
              </a:lnSpc>
            </a:pPr>
            <a:r>
              <a:rPr lang="en-US" b="true" sz="8000" spc="-256" strike="noStrike" u="none">
                <a:solidFill>
                  <a:srgbClr val="FFC033"/>
                </a:solidFill>
                <a:latin typeface="Noto Sans Bold"/>
                <a:ea typeface="Noto Sans Bold"/>
                <a:cs typeface="Noto Sans Bold"/>
                <a:sym typeface="Noto Sans Bold"/>
              </a:rPr>
              <a:t>MUSIC INDUSTRY DATA</a:t>
            </a:r>
          </a:p>
        </p:txBody>
      </p:sp>
      <p:sp>
        <p:nvSpPr>
          <p:cNvPr name="TextBox 14" id="14"/>
          <p:cNvSpPr txBox="true"/>
          <p:nvPr/>
        </p:nvSpPr>
        <p:spPr>
          <a:xfrm rot="-240995">
            <a:off x="4889143" y="609213"/>
            <a:ext cx="8489204" cy="5143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SCHEMA</a:t>
            </a:r>
          </a:p>
        </p:txBody>
      </p:sp>
      <p:sp>
        <p:nvSpPr>
          <p:cNvPr name="TextBox 15" id="15"/>
          <p:cNvSpPr txBox="true"/>
          <p:nvPr/>
        </p:nvSpPr>
        <p:spPr>
          <a:xfrm rot="0">
            <a:off x="1792912" y="4097974"/>
            <a:ext cx="6182227" cy="4277995"/>
          </a:xfrm>
          <a:prstGeom prst="rect">
            <a:avLst/>
          </a:prstGeom>
        </p:spPr>
        <p:txBody>
          <a:bodyPr anchor="t" rtlCol="false" tIns="0" lIns="0" bIns="0" rIns="0">
            <a:spAutoFit/>
          </a:bodyPr>
          <a:lstStyle/>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Customer </a:t>
            </a:r>
            <a:r>
              <a:rPr lang="en-US" sz="2199">
                <a:solidFill>
                  <a:srgbClr val="FFFFFF"/>
                </a:solidFill>
                <a:latin typeface="Open Sans"/>
                <a:ea typeface="Open Sans"/>
                <a:cs typeface="Open Sans"/>
                <a:sym typeface="Open Sans"/>
              </a:rPr>
              <a:t>– customer details and demographics</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Invoice </a:t>
            </a:r>
            <a:r>
              <a:rPr lang="en-US" sz="2199">
                <a:solidFill>
                  <a:srgbClr val="FFFFFF"/>
                </a:solidFill>
                <a:latin typeface="Open Sans"/>
                <a:ea typeface="Open Sans"/>
                <a:cs typeface="Open Sans"/>
                <a:sym typeface="Open Sans"/>
              </a:rPr>
              <a:t>– purchase transactions and billing information</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InvoiceLine </a:t>
            </a:r>
            <a:r>
              <a:rPr lang="en-US" sz="2199">
                <a:solidFill>
                  <a:srgbClr val="FFFFFF"/>
                </a:solidFill>
                <a:latin typeface="Open Sans"/>
                <a:ea typeface="Open Sans"/>
                <a:cs typeface="Open Sans"/>
                <a:sym typeface="Open Sans"/>
              </a:rPr>
              <a:t>– individual items within each invoice</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Track </a:t>
            </a:r>
            <a:r>
              <a:rPr lang="en-US" sz="2199">
                <a:solidFill>
                  <a:srgbClr val="FFFFFF"/>
                </a:solidFill>
                <a:latin typeface="Open Sans"/>
                <a:ea typeface="Open Sans"/>
                <a:cs typeface="Open Sans"/>
                <a:sym typeface="Open Sans"/>
              </a:rPr>
              <a:t>– song-level details</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Album </a:t>
            </a:r>
            <a:r>
              <a:rPr lang="en-US" sz="2199">
                <a:solidFill>
                  <a:srgbClr val="FFFFFF"/>
                </a:solidFill>
                <a:latin typeface="Open Sans"/>
                <a:ea typeface="Open Sans"/>
                <a:cs typeface="Open Sans"/>
                <a:sym typeface="Open Sans"/>
              </a:rPr>
              <a:t>– album information</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Artist </a:t>
            </a:r>
            <a:r>
              <a:rPr lang="en-US" sz="2199">
                <a:solidFill>
                  <a:srgbClr val="FFFFFF"/>
                </a:solidFill>
                <a:latin typeface="Open Sans"/>
                <a:ea typeface="Open Sans"/>
                <a:cs typeface="Open Sans"/>
                <a:sym typeface="Open Sans"/>
              </a:rPr>
              <a:t>– artist details</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Genre </a:t>
            </a:r>
            <a:r>
              <a:rPr lang="en-US" sz="2199">
                <a:solidFill>
                  <a:srgbClr val="FFFFFF"/>
                </a:solidFill>
                <a:latin typeface="Open Sans"/>
                <a:ea typeface="Open Sans"/>
                <a:cs typeface="Open Sans"/>
                <a:sym typeface="Open Sans"/>
              </a:rPr>
              <a:t>– music categories</a:t>
            </a:r>
          </a:p>
          <a:p>
            <a:pPr algn="just" marL="474979" indent="-237490" lvl="1">
              <a:lnSpc>
                <a:spcPts val="3079"/>
              </a:lnSpc>
              <a:buFont typeface="Arial"/>
              <a:buChar char="•"/>
            </a:pPr>
            <a:r>
              <a:rPr lang="en-US" b="true" sz="2199">
                <a:solidFill>
                  <a:srgbClr val="FFFFFF"/>
                </a:solidFill>
                <a:latin typeface="Open Sans Bold"/>
                <a:ea typeface="Open Sans Bold"/>
                <a:cs typeface="Open Sans Bold"/>
                <a:sym typeface="Open Sans Bold"/>
              </a:rPr>
              <a:t>Employee </a:t>
            </a:r>
            <a:r>
              <a:rPr lang="en-US" sz="2199">
                <a:solidFill>
                  <a:srgbClr val="FFFFFF"/>
                </a:solidFill>
                <a:latin typeface="Open Sans"/>
                <a:ea typeface="Open Sans"/>
                <a:cs typeface="Open Sans"/>
                <a:sym typeface="Open Sans"/>
              </a:rPr>
              <a:t>– store employee data</a:t>
            </a:r>
          </a:p>
        </p:txBody>
      </p:sp>
      <p:sp>
        <p:nvSpPr>
          <p:cNvPr name="TextBox 16" id="16"/>
          <p:cNvSpPr txBox="true"/>
          <p:nvPr/>
        </p:nvSpPr>
        <p:spPr>
          <a:xfrm rot="0">
            <a:off x="10010093" y="4097974"/>
            <a:ext cx="6203782" cy="5059045"/>
          </a:xfrm>
          <a:prstGeom prst="rect">
            <a:avLst/>
          </a:prstGeom>
        </p:spPr>
        <p:txBody>
          <a:bodyPr anchor="t" rtlCol="false" tIns="0" lIns="0" bIns="0" rIns="0">
            <a:spAutoFit/>
          </a:bodyPr>
          <a:lstStyle/>
          <a:p>
            <a:pPr algn="just" marL="474979" indent="-237490" lvl="1">
              <a:lnSpc>
                <a:spcPts val="3079"/>
              </a:lnSpc>
              <a:buFont typeface="Arial"/>
              <a:buChar char="•"/>
            </a:pPr>
            <a:r>
              <a:rPr lang="en-US" sz="2199">
                <a:solidFill>
                  <a:srgbClr val="FFFFFF"/>
                </a:solidFill>
                <a:latin typeface="Open Sans"/>
                <a:ea typeface="Open Sans"/>
                <a:cs typeface="Open Sans"/>
                <a:sym typeface="Open Sans"/>
              </a:rPr>
              <a:t>Customers distributed across multiple countries and cities</a:t>
            </a:r>
          </a:p>
          <a:p>
            <a:pPr algn="just" marL="474979" indent="-237490" lvl="1">
              <a:lnSpc>
                <a:spcPts val="3079"/>
              </a:lnSpc>
              <a:buFont typeface="Arial"/>
              <a:buChar char="•"/>
            </a:pPr>
            <a:r>
              <a:rPr lang="en-US" sz="2199">
                <a:solidFill>
                  <a:srgbClr val="FFFFFF"/>
                </a:solidFill>
                <a:latin typeface="Open Sans"/>
                <a:ea typeface="Open Sans"/>
                <a:cs typeface="Open Sans"/>
                <a:sym typeface="Open Sans"/>
              </a:rPr>
              <a:t>Purchase data covering hundreds of invoices and transactions</a:t>
            </a:r>
          </a:p>
          <a:p>
            <a:pPr algn="just" marL="474979" indent="-237490" lvl="1">
              <a:lnSpc>
                <a:spcPts val="3079"/>
              </a:lnSpc>
              <a:buFont typeface="Arial"/>
              <a:buChar char="•"/>
            </a:pPr>
            <a:r>
              <a:rPr lang="en-US" sz="2199">
                <a:solidFill>
                  <a:srgbClr val="FFFFFF"/>
                </a:solidFill>
                <a:latin typeface="Open Sans"/>
                <a:ea typeface="Open Sans"/>
                <a:cs typeface="Open Sans"/>
                <a:sym typeface="Open Sans"/>
              </a:rPr>
              <a:t>Thousands of music tracks spanning multiple genres</a:t>
            </a:r>
          </a:p>
          <a:p>
            <a:pPr algn="just" marL="474979" indent="-237490" lvl="1">
              <a:lnSpc>
                <a:spcPts val="3079"/>
              </a:lnSpc>
              <a:buFont typeface="Arial"/>
              <a:buChar char="•"/>
            </a:pPr>
            <a:r>
              <a:rPr lang="en-US" sz="2199">
                <a:solidFill>
                  <a:srgbClr val="FFFFFF"/>
                </a:solidFill>
                <a:latin typeface="Open Sans"/>
                <a:ea typeface="Open Sans"/>
                <a:cs typeface="Open Sans"/>
                <a:sym typeface="Open Sans"/>
              </a:rPr>
              <a:t>Wide range of artists and albums represented</a:t>
            </a:r>
          </a:p>
          <a:p>
            <a:pPr algn="just" marL="474979" indent="-237490" lvl="1">
              <a:lnSpc>
                <a:spcPts val="3079"/>
              </a:lnSpc>
              <a:buFont typeface="Arial"/>
              <a:buChar char="•"/>
            </a:pPr>
            <a:r>
              <a:rPr lang="en-US" sz="2199">
                <a:solidFill>
                  <a:srgbClr val="FFFFFF"/>
                </a:solidFill>
                <a:latin typeface="Open Sans"/>
                <a:ea typeface="Open Sans"/>
                <a:cs typeface="Open Sans"/>
                <a:sym typeface="Open Sans"/>
              </a:rPr>
              <a:t>Detailed track-level sales records enabling granular analysis</a:t>
            </a:r>
          </a:p>
          <a:p>
            <a:pPr algn="just" marL="474979" indent="-237490" lvl="1">
              <a:lnSpc>
                <a:spcPts val="3079"/>
              </a:lnSpc>
              <a:buFont typeface="Arial"/>
              <a:buChar char="•"/>
            </a:pPr>
            <a:r>
              <a:rPr lang="en-US" sz="2199">
                <a:solidFill>
                  <a:srgbClr val="FFFFFF"/>
                </a:solidFill>
                <a:latin typeface="Open Sans"/>
                <a:ea typeface="Open Sans"/>
                <a:cs typeface="Open Sans"/>
                <a:sym typeface="Open Sans"/>
              </a:rPr>
              <a:t>Genre, artist, and customer data connected through a relational schema</a:t>
            </a:r>
          </a:p>
          <a:p>
            <a:pPr algn="just">
              <a:lnSpc>
                <a:spcPts val="3079"/>
              </a:lnSpc>
            </a:pPr>
          </a:p>
        </p:txBody>
      </p:sp>
      <p:sp>
        <p:nvSpPr>
          <p:cNvPr name="TextBox 17" id="17"/>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Table Used</a:t>
            </a:r>
          </a:p>
        </p:txBody>
      </p:sp>
      <p:sp>
        <p:nvSpPr>
          <p:cNvPr name="TextBox 18" id="18"/>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Records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6581295"/>
            <a:chOff x="0" y="0"/>
            <a:chExt cx="2049569" cy="1733345"/>
          </a:xfrm>
        </p:grpSpPr>
        <p:sp>
          <p:nvSpPr>
            <p:cNvPr name="Freeform 5" id="5"/>
            <p:cNvSpPr/>
            <p:nvPr/>
          </p:nvSpPr>
          <p:spPr>
            <a:xfrm flipH="false" flipV="false" rot="0">
              <a:off x="0" y="0"/>
              <a:ext cx="2049569" cy="1733345"/>
            </a:xfrm>
            <a:custGeom>
              <a:avLst/>
              <a:gdLst/>
              <a:ahLst/>
              <a:cxnLst/>
              <a:rect r="r" b="b" t="t" l="l"/>
              <a:pathLst>
                <a:path h="1733345" w="2049569">
                  <a:moveTo>
                    <a:pt x="37804" y="0"/>
                  </a:moveTo>
                  <a:lnTo>
                    <a:pt x="2011765" y="0"/>
                  </a:lnTo>
                  <a:cubicBezTo>
                    <a:pt x="2032644" y="0"/>
                    <a:pt x="2049569" y="16926"/>
                    <a:pt x="2049569" y="37804"/>
                  </a:cubicBezTo>
                  <a:lnTo>
                    <a:pt x="2049569" y="1695541"/>
                  </a:lnTo>
                  <a:cubicBezTo>
                    <a:pt x="2049569" y="1705567"/>
                    <a:pt x="2045586" y="1715183"/>
                    <a:pt x="2038497" y="1722273"/>
                  </a:cubicBezTo>
                  <a:cubicBezTo>
                    <a:pt x="2031407" y="1729362"/>
                    <a:pt x="2021791" y="1733345"/>
                    <a:pt x="2011765" y="1733345"/>
                  </a:cubicBezTo>
                  <a:lnTo>
                    <a:pt x="37804" y="1733345"/>
                  </a:lnTo>
                  <a:cubicBezTo>
                    <a:pt x="27778" y="1733345"/>
                    <a:pt x="18162" y="1729362"/>
                    <a:pt x="11073" y="1722273"/>
                  </a:cubicBezTo>
                  <a:cubicBezTo>
                    <a:pt x="3983" y="1715183"/>
                    <a:pt x="0" y="1705567"/>
                    <a:pt x="0" y="1695541"/>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76192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6581295"/>
            <a:chOff x="0" y="0"/>
            <a:chExt cx="1940463" cy="1733345"/>
          </a:xfrm>
        </p:grpSpPr>
        <p:sp>
          <p:nvSpPr>
            <p:cNvPr name="Freeform 8" id="8"/>
            <p:cNvSpPr/>
            <p:nvPr/>
          </p:nvSpPr>
          <p:spPr>
            <a:xfrm flipH="false" flipV="false" rot="0">
              <a:off x="0" y="0"/>
              <a:ext cx="1940463" cy="1733345"/>
            </a:xfrm>
            <a:custGeom>
              <a:avLst/>
              <a:gdLst/>
              <a:ahLst/>
              <a:cxnLst/>
              <a:rect r="r" b="b" t="t" l="l"/>
              <a:pathLst>
                <a:path h="1733345" w="1940463">
                  <a:moveTo>
                    <a:pt x="39930" y="0"/>
                  </a:moveTo>
                  <a:lnTo>
                    <a:pt x="1900533" y="0"/>
                  </a:lnTo>
                  <a:cubicBezTo>
                    <a:pt x="1922585" y="0"/>
                    <a:pt x="1940463" y="17877"/>
                    <a:pt x="1940463" y="39930"/>
                  </a:cubicBezTo>
                  <a:lnTo>
                    <a:pt x="1940463" y="1693415"/>
                  </a:lnTo>
                  <a:cubicBezTo>
                    <a:pt x="1940463" y="1715468"/>
                    <a:pt x="1922585" y="1733345"/>
                    <a:pt x="1900533" y="1733345"/>
                  </a:cubicBezTo>
                  <a:lnTo>
                    <a:pt x="39930" y="1733345"/>
                  </a:lnTo>
                  <a:cubicBezTo>
                    <a:pt x="17877" y="1733345"/>
                    <a:pt x="0" y="1715468"/>
                    <a:pt x="0" y="169341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76192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667226" y="4805298"/>
            <a:ext cx="6433597" cy="2913115"/>
          </a:xfrm>
          <a:custGeom>
            <a:avLst/>
            <a:gdLst/>
            <a:ahLst/>
            <a:cxnLst/>
            <a:rect r="r" b="b" t="t" l="l"/>
            <a:pathLst>
              <a:path h="2913115" w="6433597">
                <a:moveTo>
                  <a:pt x="0" y="0"/>
                </a:moveTo>
                <a:lnTo>
                  <a:pt x="6433598" y="0"/>
                </a:lnTo>
                <a:lnTo>
                  <a:pt x="6433598" y="2913115"/>
                </a:lnTo>
                <a:lnTo>
                  <a:pt x="0" y="2913115"/>
                </a:lnTo>
                <a:lnTo>
                  <a:pt x="0" y="0"/>
                </a:lnTo>
                <a:close/>
              </a:path>
            </a:pathLst>
          </a:custGeom>
          <a:blipFill>
            <a:blip r:embed="rId11"/>
            <a:stretch>
              <a:fillRect l="0" t="0" r="0" b="0"/>
            </a:stretch>
          </a:blipFill>
        </p:spPr>
      </p:sp>
      <p:sp>
        <p:nvSpPr>
          <p:cNvPr name="Freeform 14" id="14"/>
          <p:cNvSpPr/>
          <p:nvPr/>
        </p:nvSpPr>
        <p:spPr>
          <a:xfrm flipH="false" flipV="false" rot="0">
            <a:off x="10248315" y="5022343"/>
            <a:ext cx="5825747" cy="1890620"/>
          </a:xfrm>
          <a:custGeom>
            <a:avLst/>
            <a:gdLst/>
            <a:ahLst/>
            <a:cxnLst/>
            <a:rect r="r" b="b" t="t" l="l"/>
            <a:pathLst>
              <a:path h="1890620" w="5825747">
                <a:moveTo>
                  <a:pt x="0" y="0"/>
                </a:moveTo>
                <a:lnTo>
                  <a:pt x="5825747" y="0"/>
                </a:lnTo>
                <a:lnTo>
                  <a:pt x="5825747" y="1890619"/>
                </a:lnTo>
                <a:lnTo>
                  <a:pt x="0" y="1890619"/>
                </a:lnTo>
                <a:lnTo>
                  <a:pt x="0" y="0"/>
                </a:lnTo>
                <a:close/>
              </a:path>
            </a:pathLst>
          </a:custGeom>
          <a:blipFill>
            <a:blip r:embed="rId12"/>
            <a:stretch>
              <a:fillRect l="0" t="0" r="0" b="0"/>
            </a:stretch>
          </a:blipFill>
        </p:spPr>
      </p:sp>
      <p:sp>
        <p:nvSpPr>
          <p:cNvPr name="TextBox 15" id="15"/>
          <p:cNvSpPr txBox="true"/>
          <p:nvPr/>
        </p:nvSpPr>
        <p:spPr>
          <a:xfrm rot="0">
            <a:off x="2074125" y="1294288"/>
            <a:ext cx="14139749" cy="1066801"/>
          </a:xfrm>
          <a:prstGeom prst="rect">
            <a:avLst/>
          </a:prstGeom>
        </p:spPr>
        <p:txBody>
          <a:bodyPr anchor="t" rtlCol="false" tIns="0" lIns="0" bIns="0" rIns="0">
            <a:spAutoFit/>
          </a:bodyPr>
          <a:lstStyle/>
          <a:p>
            <a:pPr algn="ctr" marL="0" indent="0" lvl="0">
              <a:lnSpc>
                <a:spcPts val="4050"/>
              </a:lnSpc>
            </a:pPr>
            <a:r>
              <a:rPr lang="en-US" b="true" sz="4500" spc="-144">
                <a:solidFill>
                  <a:srgbClr val="FFC033"/>
                </a:solidFill>
                <a:latin typeface="Noto Sans Bold"/>
                <a:ea typeface="Noto Sans Bold"/>
                <a:cs typeface="Noto Sans Bold"/>
                <a:sym typeface="Noto Sans Bold"/>
              </a:rPr>
              <a:t>Who i</a:t>
            </a:r>
            <a:r>
              <a:rPr lang="en-US" b="true" sz="4500" spc="-144" strike="noStrike" u="none">
                <a:solidFill>
                  <a:srgbClr val="FFC033"/>
                </a:solidFill>
                <a:latin typeface="Noto Sans Bold"/>
                <a:ea typeface="Noto Sans Bold"/>
                <a:cs typeface="Noto Sans Bold"/>
                <a:sym typeface="Noto Sans Bold"/>
              </a:rPr>
              <a:t>s the senior most employee based on job title?</a:t>
            </a:r>
          </a:p>
          <a:p>
            <a:pPr algn="ctr" marL="0" indent="0" lvl="0">
              <a:lnSpc>
                <a:spcPts val="4050"/>
              </a:lnSpc>
            </a:pPr>
          </a:p>
        </p:txBody>
      </p:sp>
      <p:sp>
        <p:nvSpPr>
          <p:cNvPr name="TextBox 16" id="16"/>
          <p:cNvSpPr txBox="true"/>
          <p:nvPr/>
        </p:nvSpPr>
        <p:spPr>
          <a:xfrm rot="266165">
            <a:off x="4912036" y="608574"/>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7" id="17"/>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8" id="18"/>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6581295"/>
            <a:chOff x="0" y="0"/>
            <a:chExt cx="2049569" cy="1733345"/>
          </a:xfrm>
        </p:grpSpPr>
        <p:sp>
          <p:nvSpPr>
            <p:cNvPr name="Freeform 5" id="5"/>
            <p:cNvSpPr/>
            <p:nvPr/>
          </p:nvSpPr>
          <p:spPr>
            <a:xfrm flipH="false" flipV="false" rot="0">
              <a:off x="0" y="0"/>
              <a:ext cx="2049569" cy="1733345"/>
            </a:xfrm>
            <a:custGeom>
              <a:avLst/>
              <a:gdLst/>
              <a:ahLst/>
              <a:cxnLst/>
              <a:rect r="r" b="b" t="t" l="l"/>
              <a:pathLst>
                <a:path h="1733345" w="2049569">
                  <a:moveTo>
                    <a:pt x="37804" y="0"/>
                  </a:moveTo>
                  <a:lnTo>
                    <a:pt x="2011765" y="0"/>
                  </a:lnTo>
                  <a:cubicBezTo>
                    <a:pt x="2032644" y="0"/>
                    <a:pt x="2049569" y="16926"/>
                    <a:pt x="2049569" y="37804"/>
                  </a:cubicBezTo>
                  <a:lnTo>
                    <a:pt x="2049569" y="1695541"/>
                  </a:lnTo>
                  <a:cubicBezTo>
                    <a:pt x="2049569" y="1705567"/>
                    <a:pt x="2045586" y="1715183"/>
                    <a:pt x="2038497" y="1722273"/>
                  </a:cubicBezTo>
                  <a:cubicBezTo>
                    <a:pt x="2031407" y="1729362"/>
                    <a:pt x="2021791" y="1733345"/>
                    <a:pt x="2011765" y="1733345"/>
                  </a:cubicBezTo>
                  <a:lnTo>
                    <a:pt x="37804" y="1733345"/>
                  </a:lnTo>
                  <a:cubicBezTo>
                    <a:pt x="27778" y="1733345"/>
                    <a:pt x="18162" y="1729362"/>
                    <a:pt x="11073" y="1722273"/>
                  </a:cubicBezTo>
                  <a:cubicBezTo>
                    <a:pt x="3983" y="1715183"/>
                    <a:pt x="0" y="1705567"/>
                    <a:pt x="0" y="1695541"/>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76192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6581295"/>
            <a:chOff x="0" y="0"/>
            <a:chExt cx="1940463" cy="1733345"/>
          </a:xfrm>
        </p:grpSpPr>
        <p:sp>
          <p:nvSpPr>
            <p:cNvPr name="Freeform 8" id="8"/>
            <p:cNvSpPr/>
            <p:nvPr/>
          </p:nvSpPr>
          <p:spPr>
            <a:xfrm flipH="false" flipV="false" rot="0">
              <a:off x="0" y="0"/>
              <a:ext cx="1940463" cy="1733345"/>
            </a:xfrm>
            <a:custGeom>
              <a:avLst/>
              <a:gdLst/>
              <a:ahLst/>
              <a:cxnLst/>
              <a:rect r="r" b="b" t="t" l="l"/>
              <a:pathLst>
                <a:path h="1733345" w="1940463">
                  <a:moveTo>
                    <a:pt x="39930" y="0"/>
                  </a:moveTo>
                  <a:lnTo>
                    <a:pt x="1900533" y="0"/>
                  </a:lnTo>
                  <a:cubicBezTo>
                    <a:pt x="1922585" y="0"/>
                    <a:pt x="1940463" y="17877"/>
                    <a:pt x="1940463" y="39930"/>
                  </a:cubicBezTo>
                  <a:lnTo>
                    <a:pt x="1940463" y="1693415"/>
                  </a:lnTo>
                  <a:cubicBezTo>
                    <a:pt x="1940463" y="1715468"/>
                    <a:pt x="1922585" y="1733345"/>
                    <a:pt x="1900533" y="1733345"/>
                  </a:cubicBezTo>
                  <a:lnTo>
                    <a:pt x="39930" y="1733345"/>
                  </a:lnTo>
                  <a:cubicBezTo>
                    <a:pt x="17877" y="1733345"/>
                    <a:pt x="0" y="1715468"/>
                    <a:pt x="0" y="169341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76192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634190" y="4326650"/>
            <a:ext cx="6499670" cy="3443339"/>
          </a:xfrm>
          <a:custGeom>
            <a:avLst/>
            <a:gdLst/>
            <a:ahLst/>
            <a:cxnLst/>
            <a:rect r="r" b="b" t="t" l="l"/>
            <a:pathLst>
              <a:path h="3443339" w="6499670">
                <a:moveTo>
                  <a:pt x="0" y="0"/>
                </a:moveTo>
                <a:lnTo>
                  <a:pt x="6499670" y="0"/>
                </a:lnTo>
                <a:lnTo>
                  <a:pt x="6499670" y="3443339"/>
                </a:lnTo>
                <a:lnTo>
                  <a:pt x="0" y="3443339"/>
                </a:lnTo>
                <a:lnTo>
                  <a:pt x="0" y="0"/>
                </a:lnTo>
                <a:close/>
              </a:path>
            </a:pathLst>
          </a:custGeom>
          <a:blipFill>
            <a:blip r:embed="rId11"/>
            <a:stretch>
              <a:fillRect l="0" t="0" r="0" b="-523"/>
            </a:stretch>
          </a:blipFill>
        </p:spPr>
      </p:sp>
      <p:sp>
        <p:nvSpPr>
          <p:cNvPr name="Freeform 14" id="14"/>
          <p:cNvSpPr/>
          <p:nvPr/>
        </p:nvSpPr>
        <p:spPr>
          <a:xfrm flipH="false" flipV="false" rot="0">
            <a:off x="10564624" y="4958403"/>
            <a:ext cx="5193130" cy="2179832"/>
          </a:xfrm>
          <a:custGeom>
            <a:avLst/>
            <a:gdLst/>
            <a:ahLst/>
            <a:cxnLst/>
            <a:rect r="r" b="b" t="t" l="l"/>
            <a:pathLst>
              <a:path h="2179832" w="5193130">
                <a:moveTo>
                  <a:pt x="0" y="0"/>
                </a:moveTo>
                <a:lnTo>
                  <a:pt x="5193130" y="0"/>
                </a:lnTo>
                <a:lnTo>
                  <a:pt x="5193130" y="2179833"/>
                </a:lnTo>
                <a:lnTo>
                  <a:pt x="0" y="2179833"/>
                </a:lnTo>
                <a:lnTo>
                  <a:pt x="0" y="0"/>
                </a:lnTo>
                <a:close/>
              </a:path>
            </a:pathLst>
          </a:custGeom>
          <a:blipFill>
            <a:blip r:embed="rId12"/>
            <a:stretch>
              <a:fillRect l="0" t="0" r="0" b="0"/>
            </a:stretch>
          </a:blipFill>
        </p:spPr>
      </p:sp>
      <p:sp>
        <p:nvSpPr>
          <p:cNvPr name="TextBox 15" id="15"/>
          <p:cNvSpPr txBox="true"/>
          <p:nvPr/>
        </p:nvSpPr>
        <p:spPr>
          <a:xfrm rot="0">
            <a:off x="2074125" y="1350834"/>
            <a:ext cx="14139749" cy="552450"/>
          </a:xfrm>
          <a:prstGeom prst="rect">
            <a:avLst/>
          </a:prstGeom>
        </p:spPr>
        <p:txBody>
          <a:bodyPr anchor="t" rtlCol="false" tIns="0" lIns="0" bIns="0" rIns="0">
            <a:spAutoFit/>
          </a:bodyPr>
          <a:lstStyle/>
          <a:p>
            <a:pPr algn="ctr" marL="0" indent="0" lvl="0">
              <a:lnSpc>
                <a:spcPts val="4050"/>
              </a:lnSpc>
            </a:pPr>
            <a:r>
              <a:rPr lang="en-US" b="true" sz="4500" spc="-144">
                <a:solidFill>
                  <a:srgbClr val="FFC033"/>
                </a:solidFill>
                <a:latin typeface="Noto Sans Bold"/>
                <a:ea typeface="Noto Sans Bold"/>
                <a:cs typeface="Noto Sans Bold"/>
                <a:sym typeface="Noto Sans Bold"/>
              </a:rPr>
              <a:t>Which co</a:t>
            </a:r>
            <a:r>
              <a:rPr lang="en-US" b="true" sz="4500" spc="-144" strike="noStrike" u="none">
                <a:solidFill>
                  <a:srgbClr val="FFC033"/>
                </a:solidFill>
                <a:latin typeface="Noto Sans Bold"/>
                <a:ea typeface="Noto Sans Bold"/>
                <a:cs typeface="Noto Sans Bold"/>
                <a:sym typeface="Noto Sans Bold"/>
              </a:rPr>
              <a:t>untries have the most Invoices? </a:t>
            </a:r>
          </a:p>
        </p:txBody>
      </p:sp>
      <p:sp>
        <p:nvSpPr>
          <p:cNvPr name="TextBox 16" id="16"/>
          <p:cNvSpPr txBox="true"/>
          <p:nvPr/>
        </p:nvSpPr>
        <p:spPr>
          <a:xfrm rot="-270528">
            <a:off x="4907580" y="608576"/>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7" id="17"/>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8" id="18"/>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15816336" cy="3522009"/>
            <a:chOff x="0" y="0"/>
            <a:chExt cx="4165619" cy="927607"/>
          </a:xfrm>
        </p:grpSpPr>
        <p:sp>
          <p:nvSpPr>
            <p:cNvPr name="Freeform 5" id="5"/>
            <p:cNvSpPr/>
            <p:nvPr/>
          </p:nvSpPr>
          <p:spPr>
            <a:xfrm flipH="false" flipV="false" rot="0">
              <a:off x="0" y="0"/>
              <a:ext cx="4165619" cy="927607"/>
            </a:xfrm>
            <a:custGeom>
              <a:avLst/>
              <a:gdLst/>
              <a:ahLst/>
              <a:cxnLst/>
              <a:rect r="r" b="b" t="t" l="l"/>
              <a:pathLst>
                <a:path h="927607" w="4165619">
                  <a:moveTo>
                    <a:pt x="18601" y="0"/>
                  </a:moveTo>
                  <a:lnTo>
                    <a:pt x="4147019" y="0"/>
                  </a:lnTo>
                  <a:cubicBezTo>
                    <a:pt x="4151952" y="0"/>
                    <a:pt x="4156683" y="1960"/>
                    <a:pt x="4160171" y="5448"/>
                  </a:cubicBezTo>
                  <a:cubicBezTo>
                    <a:pt x="4163660" y="8936"/>
                    <a:pt x="4165619" y="13667"/>
                    <a:pt x="4165619" y="18601"/>
                  </a:cubicBezTo>
                  <a:lnTo>
                    <a:pt x="4165619" y="909007"/>
                  </a:lnTo>
                  <a:cubicBezTo>
                    <a:pt x="4165619" y="913940"/>
                    <a:pt x="4163660" y="918671"/>
                    <a:pt x="4160171" y="922159"/>
                  </a:cubicBezTo>
                  <a:cubicBezTo>
                    <a:pt x="4156683" y="925648"/>
                    <a:pt x="4151952" y="927607"/>
                    <a:pt x="4147019" y="927607"/>
                  </a:cubicBezTo>
                  <a:lnTo>
                    <a:pt x="18601" y="927607"/>
                  </a:lnTo>
                  <a:cubicBezTo>
                    <a:pt x="13667" y="927607"/>
                    <a:pt x="8936" y="925648"/>
                    <a:pt x="5448" y="922159"/>
                  </a:cubicBezTo>
                  <a:cubicBezTo>
                    <a:pt x="1960" y="918671"/>
                    <a:pt x="0" y="913940"/>
                    <a:pt x="0" y="909007"/>
                  </a:cubicBezTo>
                  <a:lnTo>
                    <a:pt x="0" y="18601"/>
                  </a:lnTo>
                  <a:cubicBezTo>
                    <a:pt x="0" y="13667"/>
                    <a:pt x="1960" y="8936"/>
                    <a:pt x="5448" y="5448"/>
                  </a:cubicBezTo>
                  <a:cubicBezTo>
                    <a:pt x="8936" y="1960"/>
                    <a:pt x="13667" y="0"/>
                    <a:pt x="18601"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4165619" cy="956182"/>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1028700" y="6661282"/>
            <a:ext cx="15816336" cy="3227299"/>
            <a:chOff x="0" y="0"/>
            <a:chExt cx="4165619" cy="849988"/>
          </a:xfrm>
        </p:grpSpPr>
        <p:sp>
          <p:nvSpPr>
            <p:cNvPr name="Freeform 8" id="8"/>
            <p:cNvSpPr/>
            <p:nvPr/>
          </p:nvSpPr>
          <p:spPr>
            <a:xfrm flipH="false" flipV="false" rot="0">
              <a:off x="0" y="0"/>
              <a:ext cx="4165619" cy="849988"/>
            </a:xfrm>
            <a:custGeom>
              <a:avLst/>
              <a:gdLst/>
              <a:ahLst/>
              <a:cxnLst/>
              <a:rect r="r" b="b" t="t" l="l"/>
              <a:pathLst>
                <a:path h="849988" w="4165619">
                  <a:moveTo>
                    <a:pt x="18601" y="0"/>
                  </a:moveTo>
                  <a:lnTo>
                    <a:pt x="4147019" y="0"/>
                  </a:lnTo>
                  <a:cubicBezTo>
                    <a:pt x="4151952" y="0"/>
                    <a:pt x="4156683" y="1960"/>
                    <a:pt x="4160171" y="5448"/>
                  </a:cubicBezTo>
                  <a:cubicBezTo>
                    <a:pt x="4163660" y="8936"/>
                    <a:pt x="4165619" y="13667"/>
                    <a:pt x="4165619" y="18601"/>
                  </a:cubicBezTo>
                  <a:lnTo>
                    <a:pt x="4165619" y="831388"/>
                  </a:lnTo>
                  <a:cubicBezTo>
                    <a:pt x="4165619" y="836321"/>
                    <a:pt x="4163660" y="841052"/>
                    <a:pt x="4160171" y="844540"/>
                  </a:cubicBezTo>
                  <a:cubicBezTo>
                    <a:pt x="4156683" y="848029"/>
                    <a:pt x="4151952" y="849988"/>
                    <a:pt x="4147019" y="849988"/>
                  </a:cubicBezTo>
                  <a:lnTo>
                    <a:pt x="18601" y="849988"/>
                  </a:lnTo>
                  <a:cubicBezTo>
                    <a:pt x="8328" y="849988"/>
                    <a:pt x="0" y="841660"/>
                    <a:pt x="0" y="831388"/>
                  </a:cubicBezTo>
                  <a:lnTo>
                    <a:pt x="0" y="18601"/>
                  </a:lnTo>
                  <a:cubicBezTo>
                    <a:pt x="0" y="13667"/>
                    <a:pt x="1960" y="8936"/>
                    <a:pt x="5448" y="5448"/>
                  </a:cubicBezTo>
                  <a:cubicBezTo>
                    <a:pt x="8936" y="1960"/>
                    <a:pt x="13667" y="0"/>
                    <a:pt x="18601"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4165619" cy="878563"/>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546911" y="7939610"/>
            <a:ext cx="14779913" cy="1461546"/>
          </a:xfrm>
          <a:custGeom>
            <a:avLst/>
            <a:gdLst/>
            <a:ahLst/>
            <a:cxnLst/>
            <a:rect r="r" b="b" t="t" l="l"/>
            <a:pathLst>
              <a:path h="1461546" w="14779913">
                <a:moveTo>
                  <a:pt x="0" y="0"/>
                </a:moveTo>
                <a:lnTo>
                  <a:pt x="14779913" y="0"/>
                </a:lnTo>
                <a:lnTo>
                  <a:pt x="14779913" y="1461546"/>
                </a:lnTo>
                <a:lnTo>
                  <a:pt x="0" y="1461546"/>
                </a:lnTo>
                <a:lnTo>
                  <a:pt x="0" y="0"/>
                </a:lnTo>
                <a:close/>
              </a:path>
            </a:pathLst>
          </a:custGeom>
          <a:blipFill>
            <a:blip r:embed="rId11"/>
            <a:stretch>
              <a:fillRect l="0" t="-10858" r="0" b="-10858"/>
            </a:stretch>
          </a:blipFill>
        </p:spPr>
      </p:sp>
      <p:sp>
        <p:nvSpPr>
          <p:cNvPr name="Freeform 14" id="14"/>
          <p:cNvSpPr/>
          <p:nvPr/>
        </p:nvSpPr>
        <p:spPr>
          <a:xfrm flipH="false" flipV="false" rot="0">
            <a:off x="2800558" y="3258937"/>
            <a:ext cx="2849844" cy="2358146"/>
          </a:xfrm>
          <a:custGeom>
            <a:avLst/>
            <a:gdLst/>
            <a:ahLst/>
            <a:cxnLst/>
            <a:rect r="r" b="b" t="t" l="l"/>
            <a:pathLst>
              <a:path h="2358146" w="2849844">
                <a:moveTo>
                  <a:pt x="0" y="0"/>
                </a:moveTo>
                <a:lnTo>
                  <a:pt x="2849844" y="0"/>
                </a:lnTo>
                <a:lnTo>
                  <a:pt x="2849844" y="2358146"/>
                </a:lnTo>
                <a:lnTo>
                  <a:pt x="0" y="2358146"/>
                </a:lnTo>
                <a:lnTo>
                  <a:pt x="0" y="0"/>
                </a:lnTo>
                <a:close/>
              </a:path>
            </a:pathLst>
          </a:custGeom>
          <a:blipFill>
            <a:blip r:embed="rId12"/>
            <a:stretch>
              <a:fillRect l="0" t="0" r="0" b="0"/>
            </a:stretch>
          </a:blipFill>
        </p:spPr>
      </p:sp>
      <p:sp>
        <p:nvSpPr>
          <p:cNvPr name="TextBox 15" id="15"/>
          <p:cNvSpPr txBox="true"/>
          <p:nvPr/>
        </p:nvSpPr>
        <p:spPr>
          <a:xfrm rot="0">
            <a:off x="2074125" y="1332388"/>
            <a:ext cx="14139749" cy="552450"/>
          </a:xfrm>
          <a:prstGeom prst="rect">
            <a:avLst/>
          </a:prstGeom>
        </p:spPr>
        <p:txBody>
          <a:bodyPr anchor="t" rtlCol="false" tIns="0" lIns="0" bIns="0" rIns="0">
            <a:spAutoFit/>
          </a:bodyPr>
          <a:lstStyle/>
          <a:p>
            <a:pPr algn="ctr" marL="0" indent="0" lvl="0">
              <a:lnSpc>
                <a:spcPts val="4050"/>
              </a:lnSpc>
            </a:pPr>
            <a:r>
              <a:rPr lang="en-US" b="true" sz="4500" spc="-144" strike="noStrike" u="none">
                <a:solidFill>
                  <a:srgbClr val="FFC033"/>
                </a:solidFill>
                <a:latin typeface="Noto Sans Bold"/>
                <a:ea typeface="Noto Sans Bold"/>
                <a:cs typeface="Noto Sans Bold"/>
                <a:sym typeface="Noto Sans Bold"/>
              </a:rPr>
              <a:t>What are top 3 values of total invoice?</a:t>
            </a:r>
          </a:p>
        </p:txBody>
      </p:sp>
      <p:sp>
        <p:nvSpPr>
          <p:cNvPr name="TextBox 16" id="16"/>
          <p:cNvSpPr txBox="true"/>
          <p:nvPr/>
        </p:nvSpPr>
        <p:spPr>
          <a:xfrm rot="212930">
            <a:off x="4911595" y="608543"/>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7" id="17"/>
          <p:cNvSpPr txBox="true"/>
          <p:nvPr/>
        </p:nvSpPr>
        <p:spPr>
          <a:xfrm rot="0">
            <a:off x="6814567" y="3083696"/>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8" id="18"/>
          <p:cNvSpPr txBox="true"/>
          <p:nvPr/>
        </p:nvSpPr>
        <p:spPr>
          <a:xfrm rot="0">
            <a:off x="6814567" y="7110234"/>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3213922"/>
            <a:ext cx="7781958" cy="6044378"/>
            <a:chOff x="0" y="0"/>
            <a:chExt cx="2049569" cy="1591935"/>
          </a:xfrm>
        </p:grpSpPr>
        <p:sp>
          <p:nvSpPr>
            <p:cNvPr name="Freeform 5" id="5"/>
            <p:cNvSpPr/>
            <p:nvPr/>
          </p:nvSpPr>
          <p:spPr>
            <a:xfrm flipH="false" flipV="false" rot="0">
              <a:off x="0" y="0"/>
              <a:ext cx="2049569" cy="1591935"/>
            </a:xfrm>
            <a:custGeom>
              <a:avLst/>
              <a:gdLst/>
              <a:ahLst/>
              <a:cxnLst/>
              <a:rect r="r" b="b" t="t" l="l"/>
              <a:pathLst>
                <a:path h="1591935" w="2049569">
                  <a:moveTo>
                    <a:pt x="37804" y="0"/>
                  </a:moveTo>
                  <a:lnTo>
                    <a:pt x="2011765" y="0"/>
                  </a:lnTo>
                  <a:cubicBezTo>
                    <a:pt x="2032644" y="0"/>
                    <a:pt x="2049569" y="16926"/>
                    <a:pt x="2049569" y="37804"/>
                  </a:cubicBezTo>
                  <a:lnTo>
                    <a:pt x="2049569" y="1554130"/>
                  </a:lnTo>
                  <a:cubicBezTo>
                    <a:pt x="2049569" y="1564157"/>
                    <a:pt x="2045586" y="1573773"/>
                    <a:pt x="2038497" y="1580862"/>
                  </a:cubicBezTo>
                  <a:cubicBezTo>
                    <a:pt x="2031407" y="1587952"/>
                    <a:pt x="2021791" y="1591935"/>
                    <a:pt x="2011765" y="1591935"/>
                  </a:cubicBezTo>
                  <a:lnTo>
                    <a:pt x="37804" y="1591935"/>
                  </a:lnTo>
                  <a:cubicBezTo>
                    <a:pt x="27778" y="1591935"/>
                    <a:pt x="18162" y="1587952"/>
                    <a:pt x="11073" y="1580862"/>
                  </a:cubicBezTo>
                  <a:cubicBezTo>
                    <a:pt x="3983" y="1573773"/>
                    <a:pt x="0" y="1564157"/>
                    <a:pt x="0" y="1554130"/>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62051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3213922"/>
            <a:ext cx="7367694" cy="6044378"/>
            <a:chOff x="0" y="0"/>
            <a:chExt cx="1940463" cy="1591935"/>
          </a:xfrm>
        </p:grpSpPr>
        <p:sp>
          <p:nvSpPr>
            <p:cNvPr name="Freeform 8" id="8"/>
            <p:cNvSpPr/>
            <p:nvPr/>
          </p:nvSpPr>
          <p:spPr>
            <a:xfrm flipH="false" flipV="false" rot="0">
              <a:off x="0" y="0"/>
              <a:ext cx="1940463" cy="1591935"/>
            </a:xfrm>
            <a:custGeom>
              <a:avLst/>
              <a:gdLst/>
              <a:ahLst/>
              <a:cxnLst/>
              <a:rect r="r" b="b" t="t" l="l"/>
              <a:pathLst>
                <a:path h="1591935" w="1940463">
                  <a:moveTo>
                    <a:pt x="39930" y="0"/>
                  </a:moveTo>
                  <a:lnTo>
                    <a:pt x="1900533" y="0"/>
                  </a:lnTo>
                  <a:cubicBezTo>
                    <a:pt x="1922585" y="0"/>
                    <a:pt x="1940463" y="17877"/>
                    <a:pt x="1940463" y="39930"/>
                  </a:cubicBezTo>
                  <a:lnTo>
                    <a:pt x="1940463" y="1552005"/>
                  </a:lnTo>
                  <a:cubicBezTo>
                    <a:pt x="1940463" y="1574058"/>
                    <a:pt x="1922585" y="1591935"/>
                    <a:pt x="1900533" y="1591935"/>
                  </a:cubicBezTo>
                  <a:lnTo>
                    <a:pt x="39930" y="1591935"/>
                  </a:lnTo>
                  <a:cubicBezTo>
                    <a:pt x="17877" y="1591935"/>
                    <a:pt x="0" y="1574058"/>
                    <a:pt x="0" y="155200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62051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433962" y="5060619"/>
            <a:ext cx="6962917" cy="2350985"/>
          </a:xfrm>
          <a:custGeom>
            <a:avLst/>
            <a:gdLst/>
            <a:ahLst/>
            <a:cxnLst/>
            <a:rect r="r" b="b" t="t" l="l"/>
            <a:pathLst>
              <a:path h="2350985" w="6962917">
                <a:moveTo>
                  <a:pt x="0" y="0"/>
                </a:moveTo>
                <a:lnTo>
                  <a:pt x="6962917" y="0"/>
                </a:lnTo>
                <a:lnTo>
                  <a:pt x="6962917" y="2350985"/>
                </a:lnTo>
                <a:lnTo>
                  <a:pt x="0" y="2350985"/>
                </a:lnTo>
                <a:lnTo>
                  <a:pt x="0" y="0"/>
                </a:lnTo>
                <a:close/>
              </a:path>
            </a:pathLst>
          </a:custGeom>
          <a:blipFill>
            <a:blip r:embed="rId11"/>
            <a:stretch>
              <a:fillRect l="0" t="0" r="0" b="0"/>
            </a:stretch>
          </a:blipFill>
        </p:spPr>
      </p:sp>
      <p:sp>
        <p:nvSpPr>
          <p:cNvPr name="Freeform 14" id="14"/>
          <p:cNvSpPr/>
          <p:nvPr/>
        </p:nvSpPr>
        <p:spPr>
          <a:xfrm flipH="false" flipV="false" rot="0">
            <a:off x="10455270" y="5334138"/>
            <a:ext cx="5411837" cy="1803946"/>
          </a:xfrm>
          <a:custGeom>
            <a:avLst/>
            <a:gdLst/>
            <a:ahLst/>
            <a:cxnLst/>
            <a:rect r="r" b="b" t="t" l="l"/>
            <a:pathLst>
              <a:path h="1803946" w="5411837">
                <a:moveTo>
                  <a:pt x="0" y="0"/>
                </a:moveTo>
                <a:lnTo>
                  <a:pt x="5411837" y="0"/>
                </a:lnTo>
                <a:lnTo>
                  <a:pt x="5411837" y="1803946"/>
                </a:lnTo>
                <a:lnTo>
                  <a:pt x="0" y="1803946"/>
                </a:lnTo>
                <a:lnTo>
                  <a:pt x="0" y="0"/>
                </a:lnTo>
                <a:close/>
              </a:path>
            </a:pathLst>
          </a:custGeom>
          <a:blipFill>
            <a:blip r:embed="rId12"/>
            <a:stretch>
              <a:fillRect l="0" t="0" r="0" b="0"/>
            </a:stretch>
          </a:blipFill>
        </p:spPr>
      </p:sp>
      <p:sp>
        <p:nvSpPr>
          <p:cNvPr name="TextBox 15" id="15"/>
          <p:cNvSpPr txBox="true"/>
          <p:nvPr/>
        </p:nvSpPr>
        <p:spPr>
          <a:xfrm rot="0">
            <a:off x="1224276" y="1274634"/>
            <a:ext cx="15882448" cy="1624331"/>
          </a:xfrm>
          <a:prstGeom prst="rect">
            <a:avLst/>
          </a:prstGeom>
        </p:spPr>
        <p:txBody>
          <a:bodyPr anchor="t" rtlCol="false" tIns="0" lIns="0" bIns="0" rIns="0">
            <a:spAutoFit/>
          </a:bodyPr>
          <a:lstStyle/>
          <a:p>
            <a:pPr algn="ctr" marL="0" indent="0" lvl="0">
              <a:lnSpc>
                <a:spcPts val="3200"/>
              </a:lnSpc>
            </a:pPr>
            <a:r>
              <a:rPr lang="en-US" b="true" sz="3200">
                <a:solidFill>
                  <a:srgbClr val="FFC033"/>
                </a:solidFill>
                <a:latin typeface="Noto Sans Bold"/>
                <a:ea typeface="Noto Sans Bold"/>
                <a:cs typeface="Noto Sans Bold"/>
                <a:sym typeface="Noto Sans Bold"/>
              </a:rPr>
              <a:t>Which city has the best customers? We wo</a:t>
            </a:r>
            <a:r>
              <a:rPr lang="en-US" b="true" sz="3200" strike="noStrike" u="none">
                <a:solidFill>
                  <a:srgbClr val="FFC033"/>
                </a:solidFill>
                <a:latin typeface="Noto Sans Bold"/>
                <a:ea typeface="Noto Sans Bold"/>
                <a:cs typeface="Noto Sans Bold"/>
                <a:sym typeface="Noto Sans Bold"/>
              </a:rPr>
              <a:t>uld like to throw a promotional Music Festival in the city we made the most money. Write a query that returns one city that  has the highest sum of invoice totals. Return both the city name &amp; sum of all invoice totals.</a:t>
            </a:r>
          </a:p>
        </p:txBody>
      </p:sp>
      <p:sp>
        <p:nvSpPr>
          <p:cNvPr name="TextBox 16" id="16"/>
          <p:cNvSpPr txBox="true"/>
          <p:nvPr/>
        </p:nvSpPr>
        <p:spPr>
          <a:xfrm rot="-270528">
            <a:off x="4907580" y="608576"/>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7" id="17"/>
          <p:cNvSpPr txBox="true"/>
          <p:nvPr/>
        </p:nvSpPr>
        <p:spPr>
          <a:xfrm rot="0">
            <a:off x="2761724" y="3760366"/>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8" id="18"/>
          <p:cNvSpPr txBox="true"/>
          <p:nvPr/>
        </p:nvSpPr>
        <p:spPr>
          <a:xfrm rot="0">
            <a:off x="11038888" y="3760366"/>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6581295"/>
            <a:chOff x="0" y="0"/>
            <a:chExt cx="2049569" cy="1733345"/>
          </a:xfrm>
        </p:grpSpPr>
        <p:sp>
          <p:nvSpPr>
            <p:cNvPr name="Freeform 5" id="5"/>
            <p:cNvSpPr/>
            <p:nvPr/>
          </p:nvSpPr>
          <p:spPr>
            <a:xfrm flipH="false" flipV="false" rot="0">
              <a:off x="0" y="0"/>
              <a:ext cx="2049569" cy="1733345"/>
            </a:xfrm>
            <a:custGeom>
              <a:avLst/>
              <a:gdLst/>
              <a:ahLst/>
              <a:cxnLst/>
              <a:rect r="r" b="b" t="t" l="l"/>
              <a:pathLst>
                <a:path h="1733345" w="2049569">
                  <a:moveTo>
                    <a:pt x="37804" y="0"/>
                  </a:moveTo>
                  <a:lnTo>
                    <a:pt x="2011765" y="0"/>
                  </a:lnTo>
                  <a:cubicBezTo>
                    <a:pt x="2032644" y="0"/>
                    <a:pt x="2049569" y="16926"/>
                    <a:pt x="2049569" y="37804"/>
                  </a:cubicBezTo>
                  <a:lnTo>
                    <a:pt x="2049569" y="1695541"/>
                  </a:lnTo>
                  <a:cubicBezTo>
                    <a:pt x="2049569" y="1705567"/>
                    <a:pt x="2045586" y="1715183"/>
                    <a:pt x="2038497" y="1722273"/>
                  </a:cubicBezTo>
                  <a:cubicBezTo>
                    <a:pt x="2031407" y="1729362"/>
                    <a:pt x="2021791" y="1733345"/>
                    <a:pt x="2011765" y="1733345"/>
                  </a:cubicBezTo>
                  <a:lnTo>
                    <a:pt x="37804" y="1733345"/>
                  </a:lnTo>
                  <a:cubicBezTo>
                    <a:pt x="27778" y="1733345"/>
                    <a:pt x="18162" y="1729362"/>
                    <a:pt x="11073" y="1722273"/>
                  </a:cubicBezTo>
                  <a:cubicBezTo>
                    <a:pt x="3983" y="1715183"/>
                    <a:pt x="0" y="1705567"/>
                    <a:pt x="0" y="1695541"/>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76192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6581295"/>
            <a:chOff x="0" y="0"/>
            <a:chExt cx="1940463" cy="1733345"/>
          </a:xfrm>
        </p:grpSpPr>
        <p:sp>
          <p:nvSpPr>
            <p:cNvPr name="Freeform 8" id="8"/>
            <p:cNvSpPr/>
            <p:nvPr/>
          </p:nvSpPr>
          <p:spPr>
            <a:xfrm flipH="false" flipV="false" rot="0">
              <a:off x="0" y="0"/>
              <a:ext cx="1940463" cy="1733345"/>
            </a:xfrm>
            <a:custGeom>
              <a:avLst/>
              <a:gdLst/>
              <a:ahLst/>
              <a:cxnLst/>
              <a:rect r="r" b="b" t="t" l="l"/>
              <a:pathLst>
                <a:path h="1733345" w="1940463">
                  <a:moveTo>
                    <a:pt x="39930" y="0"/>
                  </a:moveTo>
                  <a:lnTo>
                    <a:pt x="1900533" y="0"/>
                  </a:lnTo>
                  <a:cubicBezTo>
                    <a:pt x="1922585" y="0"/>
                    <a:pt x="1940463" y="17877"/>
                    <a:pt x="1940463" y="39930"/>
                  </a:cubicBezTo>
                  <a:lnTo>
                    <a:pt x="1940463" y="1693415"/>
                  </a:lnTo>
                  <a:cubicBezTo>
                    <a:pt x="1940463" y="1715468"/>
                    <a:pt x="1922585" y="1733345"/>
                    <a:pt x="1900533" y="1733345"/>
                  </a:cubicBezTo>
                  <a:lnTo>
                    <a:pt x="39930" y="1733345"/>
                  </a:lnTo>
                  <a:cubicBezTo>
                    <a:pt x="17877" y="1733345"/>
                    <a:pt x="0" y="1715468"/>
                    <a:pt x="0" y="169341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76192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829509" y="5119267"/>
            <a:ext cx="6663359" cy="1696771"/>
          </a:xfrm>
          <a:custGeom>
            <a:avLst/>
            <a:gdLst/>
            <a:ahLst/>
            <a:cxnLst/>
            <a:rect r="r" b="b" t="t" l="l"/>
            <a:pathLst>
              <a:path h="1696771" w="6663359">
                <a:moveTo>
                  <a:pt x="0" y="0"/>
                </a:moveTo>
                <a:lnTo>
                  <a:pt x="6663359" y="0"/>
                </a:lnTo>
                <a:lnTo>
                  <a:pt x="6663359" y="1696771"/>
                </a:lnTo>
                <a:lnTo>
                  <a:pt x="0" y="1696771"/>
                </a:lnTo>
                <a:lnTo>
                  <a:pt x="0" y="0"/>
                </a:lnTo>
                <a:close/>
              </a:path>
            </a:pathLst>
          </a:custGeom>
          <a:blipFill>
            <a:blip r:embed="rId11"/>
            <a:stretch>
              <a:fillRect l="0" t="0" r="0" b="0"/>
            </a:stretch>
          </a:blipFill>
        </p:spPr>
      </p:sp>
      <p:sp>
        <p:nvSpPr>
          <p:cNvPr name="Freeform 14" id="14"/>
          <p:cNvSpPr/>
          <p:nvPr/>
        </p:nvSpPr>
        <p:spPr>
          <a:xfrm flipH="false" flipV="false" rot="0">
            <a:off x="1491059" y="4381091"/>
            <a:ext cx="6857241" cy="3173123"/>
          </a:xfrm>
          <a:custGeom>
            <a:avLst/>
            <a:gdLst/>
            <a:ahLst/>
            <a:cxnLst/>
            <a:rect r="r" b="b" t="t" l="l"/>
            <a:pathLst>
              <a:path h="3173123" w="6857241">
                <a:moveTo>
                  <a:pt x="0" y="0"/>
                </a:moveTo>
                <a:lnTo>
                  <a:pt x="6857241" y="0"/>
                </a:lnTo>
                <a:lnTo>
                  <a:pt x="6857241" y="3173123"/>
                </a:lnTo>
                <a:lnTo>
                  <a:pt x="0" y="3173123"/>
                </a:lnTo>
                <a:lnTo>
                  <a:pt x="0" y="0"/>
                </a:lnTo>
                <a:close/>
              </a:path>
            </a:pathLst>
          </a:custGeom>
          <a:blipFill>
            <a:blip r:embed="rId12"/>
            <a:stretch>
              <a:fillRect l="0" t="0" r="0" b="0"/>
            </a:stretch>
          </a:blipFill>
        </p:spPr>
      </p:sp>
      <p:sp>
        <p:nvSpPr>
          <p:cNvPr name="TextBox 15" id="15"/>
          <p:cNvSpPr txBox="true"/>
          <p:nvPr/>
        </p:nvSpPr>
        <p:spPr>
          <a:xfrm rot="266165">
            <a:off x="4912036" y="608574"/>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1624331"/>
          </a:xfrm>
          <a:prstGeom prst="rect">
            <a:avLst/>
          </a:prstGeom>
        </p:spPr>
        <p:txBody>
          <a:bodyPr anchor="t" rtlCol="false" tIns="0" lIns="0" bIns="0" rIns="0">
            <a:spAutoFit/>
          </a:bodyPr>
          <a:lstStyle/>
          <a:p>
            <a:pPr algn="ctr">
              <a:lnSpc>
                <a:spcPts val="3200"/>
              </a:lnSpc>
            </a:pPr>
            <a:r>
              <a:rPr lang="en-US" sz="3200" b="true">
                <a:solidFill>
                  <a:srgbClr val="FFC033"/>
                </a:solidFill>
                <a:latin typeface="Noto Sans Bold"/>
                <a:ea typeface="Noto Sans Bold"/>
                <a:cs typeface="Noto Sans Bold"/>
                <a:sym typeface="Noto Sans Bold"/>
              </a:rPr>
              <a:t>Who is the best customer? The customer who has spent the most money will be </a:t>
            </a:r>
            <a:r>
              <a:rPr lang="en-US" sz="3200" b="true">
                <a:solidFill>
                  <a:srgbClr val="FFC033"/>
                </a:solidFill>
                <a:latin typeface="Noto Sans Bold"/>
                <a:ea typeface="Noto Sans Bold"/>
                <a:cs typeface="Noto Sans Bold"/>
                <a:sym typeface="Noto Sans Bold"/>
              </a:rPr>
              <a:t>declared the best customer. Write a query that returns the person who has spent the most money.</a:t>
            </a:r>
          </a:p>
          <a:p>
            <a:pPr algn="ctr" marL="0" indent="0" lvl="0">
              <a:lnSpc>
                <a:spcPts val="32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6581295"/>
            <a:chOff x="0" y="0"/>
            <a:chExt cx="2049569" cy="1733345"/>
          </a:xfrm>
        </p:grpSpPr>
        <p:sp>
          <p:nvSpPr>
            <p:cNvPr name="Freeform 5" id="5"/>
            <p:cNvSpPr/>
            <p:nvPr/>
          </p:nvSpPr>
          <p:spPr>
            <a:xfrm flipH="false" flipV="false" rot="0">
              <a:off x="0" y="0"/>
              <a:ext cx="2049569" cy="1733345"/>
            </a:xfrm>
            <a:custGeom>
              <a:avLst/>
              <a:gdLst/>
              <a:ahLst/>
              <a:cxnLst/>
              <a:rect r="r" b="b" t="t" l="l"/>
              <a:pathLst>
                <a:path h="1733345" w="2049569">
                  <a:moveTo>
                    <a:pt x="37804" y="0"/>
                  </a:moveTo>
                  <a:lnTo>
                    <a:pt x="2011765" y="0"/>
                  </a:lnTo>
                  <a:cubicBezTo>
                    <a:pt x="2032644" y="0"/>
                    <a:pt x="2049569" y="16926"/>
                    <a:pt x="2049569" y="37804"/>
                  </a:cubicBezTo>
                  <a:lnTo>
                    <a:pt x="2049569" y="1695541"/>
                  </a:lnTo>
                  <a:cubicBezTo>
                    <a:pt x="2049569" y="1705567"/>
                    <a:pt x="2045586" y="1715183"/>
                    <a:pt x="2038497" y="1722273"/>
                  </a:cubicBezTo>
                  <a:cubicBezTo>
                    <a:pt x="2031407" y="1729362"/>
                    <a:pt x="2021791" y="1733345"/>
                    <a:pt x="2011765" y="1733345"/>
                  </a:cubicBezTo>
                  <a:lnTo>
                    <a:pt x="37804" y="1733345"/>
                  </a:lnTo>
                  <a:cubicBezTo>
                    <a:pt x="27778" y="1733345"/>
                    <a:pt x="18162" y="1729362"/>
                    <a:pt x="11073" y="1722273"/>
                  </a:cubicBezTo>
                  <a:cubicBezTo>
                    <a:pt x="3983" y="1715183"/>
                    <a:pt x="0" y="1705567"/>
                    <a:pt x="0" y="1695541"/>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76192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6581295"/>
            <a:chOff x="0" y="0"/>
            <a:chExt cx="1940463" cy="1733345"/>
          </a:xfrm>
        </p:grpSpPr>
        <p:sp>
          <p:nvSpPr>
            <p:cNvPr name="Freeform 8" id="8"/>
            <p:cNvSpPr/>
            <p:nvPr/>
          </p:nvSpPr>
          <p:spPr>
            <a:xfrm flipH="false" flipV="false" rot="0">
              <a:off x="0" y="0"/>
              <a:ext cx="1940463" cy="1733345"/>
            </a:xfrm>
            <a:custGeom>
              <a:avLst/>
              <a:gdLst/>
              <a:ahLst/>
              <a:cxnLst/>
              <a:rect r="r" b="b" t="t" l="l"/>
              <a:pathLst>
                <a:path h="1733345" w="1940463">
                  <a:moveTo>
                    <a:pt x="39930" y="0"/>
                  </a:moveTo>
                  <a:lnTo>
                    <a:pt x="1900533" y="0"/>
                  </a:lnTo>
                  <a:cubicBezTo>
                    <a:pt x="1922585" y="0"/>
                    <a:pt x="1940463" y="17877"/>
                    <a:pt x="1940463" y="39930"/>
                  </a:cubicBezTo>
                  <a:lnTo>
                    <a:pt x="1940463" y="1693415"/>
                  </a:lnTo>
                  <a:cubicBezTo>
                    <a:pt x="1940463" y="1715468"/>
                    <a:pt x="1922585" y="1733345"/>
                    <a:pt x="1900533" y="1733345"/>
                  </a:cubicBezTo>
                  <a:lnTo>
                    <a:pt x="39930" y="1733345"/>
                  </a:lnTo>
                  <a:cubicBezTo>
                    <a:pt x="17877" y="1733345"/>
                    <a:pt x="0" y="1715468"/>
                    <a:pt x="0" y="169341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76192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0481163" y="3957458"/>
            <a:ext cx="5360050" cy="4808658"/>
          </a:xfrm>
          <a:custGeom>
            <a:avLst/>
            <a:gdLst/>
            <a:ahLst/>
            <a:cxnLst/>
            <a:rect r="r" b="b" t="t" l="l"/>
            <a:pathLst>
              <a:path h="4808658" w="5360050">
                <a:moveTo>
                  <a:pt x="0" y="0"/>
                </a:moveTo>
                <a:lnTo>
                  <a:pt x="5360051" y="0"/>
                </a:lnTo>
                <a:lnTo>
                  <a:pt x="5360051" y="4808658"/>
                </a:lnTo>
                <a:lnTo>
                  <a:pt x="0" y="4808658"/>
                </a:lnTo>
                <a:lnTo>
                  <a:pt x="0" y="0"/>
                </a:lnTo>
                <a:close/>
              </a:path>
            </a:pathLst>
          </a:custGeom>
          <a:blipFill>
            <a:blip r:embed="rId11"/>
            <a:stretch>
              <a:fillRect l="0" t="0" r="0" b="0"/>
            </a:stretch>
          </a:blipFill>
        </p:spPr>
      </p:sp>
      <p:sp>
        <p:nvSpPr>
          <p:cNvPr name="Freeform 14" id="14"/>
          <p:cNvSpPr/>
          <p:nvPr/>
        </p:nvSpPr>
        <p:spPr>
          <a:xfrm flipH="false" flipV="false" rot="0">
            <a:off x="2020989" y="3957458"/>
            <a:ext cx="5797381" cy="4766068"/>
          </a:xfrm>
          <a:custGeom>
            <a:avLst/>
            <a:gdLst/>
            <a:ahLst/>
            <a:cxnLst/>
            <a:rect r="r" b="b" t="t" l="l"/>
            <a:pathLst>
              <a:path h="4766068" w="5797381">
                <a:moveTo>
                  <a:pt x="0" y="0"/>
                </a:moveTo>
                <a:lnTo>
                  <a:pt x="5797381" y="0"/>
                </a:lnTo>
                <a:lnTo>
                  <a:pt x="5797381" y="4766068"/>
                </a:lnTo>
                <a:lnTo>
                  <a:pt x="0" y="4766068"/>
                </a:lnTo>
                <a:lnTo>
                  <a:pt x="0" y="0"/>
                </a:lnTo>
                <a:close/>
              </a:path>
            </a:pathLst>
          </a:custGeom>
          <a:blipFill>
            <a:blip r:embed="rId12"/>
            <a:stretch>
              <a:fillRect l="0" t="0" r="0" b="0"/>
            </a:stretch>
          </a:blipFill>
        </p:spPr>
      </p:sp>
      <p:sp>
        <p:nvSpPr>
          <p:cNvPr name="TextBox 15" id="15"/>
          <p:cNvSpPr txBox="true"/>
          <p:nvPr/>
        </p:nvSpPr>
        <p:spPr>
          <a:xfrm rot="-227161">
            <a:off x="4907939" y="608550"/>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1624331"/>
          </a:xfrm>
          <a:prstGeom prst="rect">
            <a:avLst/>
          </a:prstGeom>
        </p:spPr>
        <p:txBody>
          <a:bodyPr anchor="t" rtlCol="false" tIns="0" lIns="0" bIns="0" rIns="0">
            <a:spAutoFit/>
          </a:bodyPr>
          <a:lstStyle/>
          <a:p>
            <a:pPr algn="ctr">
              <a:lnSpc>
                <a:spcPts val="3200"/>
              </a:lnSpc>
            </a:pPr>
            <a:r>
              <a:rPr lang="en-US" sz="3200" b="true">
                <a:solidFill>
                  <a:srgbClr val="FFC033"/>
                </a:solidFill>
                <a:latin typeface="Noto Sans Bold"/>
                <a:ea typeface="Noto Sans Bold"/>
                <a:cs typeface="Noto Sans Bold"/>
                <a:sym typeface="Noto Sans Bold"/>
              </a:rPr>
              <a:t>Write query to return the email, first name, last name, &amp; G</a:t>
            </a:r>
            <a:r>
              <a:rPr lang="en-US" sz="3200" b="true">
                <a:solidFill>
                  <a:srgbClr val="FFC033"/>
                </a:solidFill>
                <a:latin typeface="Noto Sans Bold"/>
                <a:ea typeface="Noto Sans Bold"/>
                <a:cs typeface="Noto Sans Bold"/>
                <a:sym typeface="Noto Sans Bold"/>
              </a:rPr>
              <a:t>enre of all Rock Music listeners. </a:t>
            </a:r>
          </a:p>
          <a:p>
            <a:pPr algn="ctr">
              <a:lnSpc>
                <a:spcPts val="3200"/>
              </a:lnSpc>
            </a:pPr>
            <a:r>
              <a:rPr lang="en-US" sz="3200" b="true">
                <a:solidFill>
                  <a:srgbClr val="FFC033"/>
                </a:solidFill>
                <a:latin typeface="Noto Sans Bold"/>
                <a:ea typeface="Noto Sans Bold"/>
                <a:cs typeface="Noto Sans Bold"/>
                <a:sym typeface="Noto Sans Bold"/>
              </a:rPr>
              <a:t>Return your list ordered alphabetically by email starting with A</a:t>
            </a:r>
          </a:p>
          <a:p>
            <a:pPr algn="ctr" marL="0" indent="0" lvl="0">
              <a:lnSpc>
                <a:spcPts val="32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7189066"/>
            <a:chOff x="0" y="0"/>
            <a:chExt cx="2049569" cy="1893417"/>
          </a:xfrm>
        </p:grpSpPr>
        <p:sp>
          <p:nvSpPr>
            <p:cNvPr name="Freeform 5" id="5"/>
            <p:cNvSpPr/>
            <p:nvPr/>
          </p:nvSpPr>
          <p:spPr>
            <a:xfrm flipH="false" flipV="false" rot="0">
              <a:off x="0" y="0"/>
              <a:ext cx="2049569" cy="1893417"/>
            </a:xfrm>
            <a:custGeom>
              <a:avLst/>
              <a:gdLst/>
              <a:ahLst/>
              <a:cxnLst/>
              <a:rect r="r" b="b" t="t" l="l"/>
              <a:pathLst>
                <a:path h="1893417" w="2049569">
                  <a:moveTo>
                    <a:pt x="37804" y="0"/>
                  </a:moveTo>
                  <a:lnTo>
                    <a:pt x="2011765" y="0"/>
                  </a:lnTo>
                  <a:cubicBezTo>
                    <a:pt x="2032644" y="0"/>
                    <a:pt x="2049569" y="16926"/>
                    <a:pt x="2049569" y="37804"/>
                  </a:cubicBezTo>
                  <a:lnTo>
                    <a:pt x="2049569" y="1855612"/>
                  </a:lnTo>
                  <a:cubicBezTo>
                    <a:pt x="2049569" y="1865638"/>
                    <a:pt x="2045586" y="1875254"/>
                    <a:pt x="2038497" y="1882344"/>
                  </a:cubicBezTo>
                  <a:cubicBezTo>
                    <a:pt x="2031407" y="1889434"/>
                    <a:pt x="2021791" y="1893417"/>
                    <a:pt x="2011765" y="1893417"/>
                  </a:cubicBezTo>
                  <a:lnTo>
                    <a:pt x="37804" y="1893417"/>
                  </a:lnTo>
                  <a:cubicBezTo>
                    <a:pt x="27778" y="1893417"/>
                    <a:pt x="18162" y="1889434"/>
                    <a:pt x="11073" y="1882344"/>
                  </a:cubicBezTo>
                  <a:cubicBezTo>
                    <a:pt x="3983" y="1875254"/>
                    <a:pt x="0" y="1865638"/>
                    <a:pt x="0" y="1855612"/>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921992"/>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7189066"/>
            <a:chOff x="0" y="0"/>
            <a:chExt cx="1940463" cy="1893417"/>
          </a:xfrm>
        </p:grpSpPr>
        <p:sp>
          <p:nvSpPr>
            <p:cNvPr name="Freeform 8" id="8"/>
            <p:cNvSpPr/>
            <p:nvPr/>
          </p:nvSpPr>
          <p:spPr>
            <a:xfrm flipH="false" flipV="false" rot="0">
              <a:off x="0" y="0"/>
              <a:ext cx="1940463" cy="1893417"/>
            </a:xfrm>
            <a:custGeom>
              <a:avLst/>
              <a:gdLst/>
              <a:ahLst/>
              <a:cxnLst/>
              <a:rect r="r" b="b" t="t" l="l"/>
              <a:pathLst>
                <a:path h="1893417" w="1940463">
                  <a:moveTo>
                    <a:pt x="39930" y="0"/>
                  </a:moveTo>
                  <a:lnTo>
                    <a:pt x="1900533" y="0"/>
                  </a:lnTo>
                  <a:cubicBezTo>
                    <a:pt x="1922585" y="0"/>
                    <a:pt x="1940463" y="17877"/>
                    <a:pt x="1940463" y="39930"/>
                  </a:cubicBezTo>
                  <a:lnTo>
                    <a:pt x="1940463" y="1853486"/>
                  </a:lnTo>
                  <a:cubicBezTo>
                    <a:pt x="1940463" y="1875539"/>
                    <a:pt x="1922585" y="1893417"/>
                    <a:pt x="1900533" y="1893417"/>
                  </a:cubicBezTo>
                  <a:lnTo>
                    <a:pt x="39930" y="1893417"/>
                  </a:lnTo>
                  <a:cubicBezTo>
                    <a:pt x="17877" y="1893417"/>
                    <a:pt x="0" y="1875539"/>
                    <a:pt x="0" y="1853486"/>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921992"/>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0035151" y="4805298"/>
            <a:ext cx="6252076" cy="3135205"/>
          </a:xfrm>
          <a:custGeom>
            <a:avLst/>
            <a:gdLst/>
            <a:ahLst/>
            <a:cxnLst/>
            <a:rect r="r" b="b" t="t" l="l"/>
            <a:pathLst>
              <a:path h="3135205" w="6252076">
                <a:moveTo>
                  <a:pt x="0" y="0"/>
                </a:moveTo>
                <a:lnTo>
                  <a:pt x="6252076" y="0"/>
                </a:lnTo>
                <a:lnTo>
                  <a:pt x="6252076" y="3135206"/>
                </a:lnTo>
                <a:lnTo>
                  <a:pt x="0" y="3135206"/>
                </a:lnTo>
                <a:lnTo>
                  <a:pt x="0" y="0"/>
                </a:lnTo>
                <a:close/>
              </a:path>
            </a:pathLst>
          </a:custGeom>
          <a:blipFill>
            <a:blip r:embed="rId11"/>
            <a:stretch>
              <a:fillRect l="0" t="0" r="0" b="0"/>
            </a:stretch>
          </a:blipFill>
        </p:spPr>
      </p:sp>
      <p:sp>
        <p:nvSpPr>
          <p:cNvPr name="Freeform 14" id="14"/>
          <p:cNvSpPr/>
          <p:nvPr/>
        </p:nvSpPr>
        <p:spPr>
          <a:xfrm flipH="false" flipV="false" rot="0">
            <a:off x="2128556" y="3890898"/>
            <a:ext cx="5582247" cy="5632424"/>
          </a:xfrm>
          <a:custGeom>
            <a:avLst/>
            <a:gdLst/>
            <a:ahLst/>
            <a:cxnLst/>
            <a:rect r="r" b="b" t="t" l="l"/>
            <a:pathLst>
              <a:path h="5632424" w="5582247">
                <a:moveTo>
                  <a:pt x="0" y="0"/>
                </a:moveTo>
                <a:lnTo>
                  <a:pt x="5582247" y="0"/>
                </a:lnTo>
                <a:lnTo>
                  <a:pt x="5582247" y="5632424"/>
                </a:lnTo>
                <a:lnTo>
                  <a:pt x="0" y="5632424"/>
                </a:lnTo>
                <a:lnTo>
                  <a:pt x="0" y="0"/>
                </a:lnTo>
                <a:close/>
              </a:path>
            </a:pathLst>
          </a:custGeom>
          <a:blipFill>
            <a:blip r:embed="rId12"/>
            <a:stretch>
              <a:fillRect l="0" t="0" r="0" b="0"/>
            </a:stretch>
          </a:blipFill>
        </p:spPr>
      </p:sp>
      <p:sp>
        <p:nvSpPr>
          <p:cNvPr name="TextBox 15" id="15"/>
          <p:cNvSpPr txBox="true"/>
          <p:nvPr/>
        </p:nvSpPr>
        <p:spPr>
          <a:xfrm rot="266165">
            <a:off x="4912036" y="608574"/>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1624331"/>
          </a:xfrm>
          <a:prstGeom prst="rect">
            <a:avLst/>
          </a:prstGeom>
        </p:spPr>
        <p:txBody>
          <a:bodyPr anchor="t" rtlCol="false" tIns="0" lIns="0" bIns="0" rIns="0">
            <a:spAutoFit/>
          </a:bodyPr>
          <a:lstStyle/>
          <a:p>
            <a:pPr algn="ctr">
              <a:lnSpc>
                <a:spcPts val="3200"/>
              </a:lnSpc>
            </a:pPr>
            <a:r>
              <a:rPr lang="en-US" sz="3200" b="true">
                <a:solidFill>
                  <a:srgbClr val="FFC033"/>
                </a:solidFill>
                <a:latin typeface="Noto Sans Bold"/>
                <a:ea typeface="Noto Sans Bold"/>
                <a:cs typeface="Noto Sans Bold"/>
                <a:sym typeface="Noto Sans Bold"/>
              </a:rPr>
              <a:t>Let's invite the artists who have written the most rock music in our </a:t>
            </a:r>
            <a:r>
              <a:rPr lang="en-US" sz="3200" b="true">
                <a:solidFill>
                  <a:srgbClr val="FFC033"/>
                </a:solidFill>
                <a:latin typeface="Noto Sans Bold"/>
                <a:ea typeface="Noto Sans Bold"/>
                <a:cs typeface="Noto Sans Bold"/>
                <a:sym typeface="Noto Sans Bold"/>
              </a:rPr>
              <a:t>dataset. Write a query that returns the Artist name and total track count of the top 5 rock bands.</a:t>
            </a:r>
          </a:p>
          <a:p>
            <a:pPr algn="ctr" marL="0" indent="0" lvl="0">
              <a:lnSpc>
                <a:spcPts val="32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677005"/>
            <a:ext cx="7781958" cy="6581295"/>
            <a:chOff x="0" y="0"/>
            <a:chExt cx="2049569" cy="1733345"/>
          </a:xfrm>
        </p:grpSpPr>
        <p:sp>
          <p:nvSpPr>
            <p:cNvPr name="Freeform 5" id="5"/>
            <p:cNvSpPr/>
            <p:nvPr/>
          </p:nvSpPr>
          <p:spPr>
            <a:xfrm flipH="false" flipV="false" rot="0">
              <a:off x="0" y="0"/>
              <a:ext cx="2049569" cy="1733345"/>
            </a:xfrm>
            <a:custGeom>
              <a:avLst/>
              <a:gdLst/>
              <a:ahLst/>
              <a:cxnLst/>
              <a:rect r="r" b="b" t="t" l="l"/>
              <a:pathLst>
                <a:path h="1733345" w="2049569">
                  <a:moveTo>
                    <a:pt x="37804" y="0"/>
                  </a:moveTo>
                  <a:lnTo>
                    <a:pt x="2011765" y="0"/>
                  </a:lnTo>
                  <a:cubicBezTo>
                    <a:pt x="2032644" y="0"/>
                    <a:pt x="2049569" y="16926"/>
                    <a:pt x="2049569" y="37804"/>
                  </a:cubicBezTo>
                  <a:lnTo>
                    <a:pt x="2049569" y="1695541"/>
                  </a:lnTo>
                  <a:cubicBezTo>
                    <a:pt x="2049569" y="1705567"/>
                    <a:pt x="2045586" y="1715183"/>
                    <a:pt x="2038497" y="1722273"/>
                  </a:cubicBezTo>
                  <a:cubicBezTo>
                    <a:pt x="2031407" y="1729362"/>
                    <a:pt x="2021791" y="1733345"/>
                    <a:pt x="2011765" y="1733345"/>
                  </a:cubicBezTo>
                  <a:lnTo>
                    <a:pt x="37804" y="1733345"/>
                  </a:lnTo>
                  <a:cubicBezTo>
                    <a:pt x="27778" y="1733345"/>
                    <a:pt x="18162" y="1729362"/>
                    <a:pt x="11073" y="1722273"/>
                  </a:cubicBezTo>
                  <a:cubicBezTo>
                    <a:pt x="3983" y="1715183"/>
                    <a:pt x="0" y="1705567"/>
                    <a:pt x="0" y="1695541"/>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761920"/>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2677005"/>
            <a:ext cx="7367694" cy="6581295"/>
            <a:chOff x="0" y="0"/>
            <a:chExt cx="1940463" cy="1733345"/>
          </a:xfrm>
        </p:grpSpPr>
        <p:sp>
          <p:nvSpPr>
            <p:cNvPr name="Freeform 8" id="8"/>
            <p:cNvSpPr/>
            <p:nvPr/>
          </p:nvSpPr>
          <p:spPr>
            <a:xfrm flipH="false" flipV="false" rot="0">
              <a:off x="0" y="0"/>
              <a:ext cx="1940463" cy="1733345"/>
            </a:xfrm>
            <a:custGeom>
              <a:avLst/>
              <a:gdLst/>
              <a:ahLst/>
              <a:cxnLst/>
              <a:rect r="r" b="b" t="t" l="l"/>
              <a:pathLst>
                <a:path h="1733345" w="1940463">
                  <a:moveTo>
                    <a:pt x="39930" y="0"/>
                  </a:moveTo>
                  <a:lnTo>
                    <a:pt x="1900533" y="0"/>
                  </a:lnTo>
                  <a:cubicBezTo>
                    <a:pt x="1922585" y="0"/>
                    <a:pt x="1940463" y="17877"/>
                    <a:pt x="1940463" y="39930"/>
                  </a:cubicBezTo>
                  <a:lnTo>
                    <a:pt x="1940463" y="1693415"/>
                  </a:lnTo>
                  <a:cubicBezTo>
                    <a:pt x="1940463" y="1715468"/>
                    <a:pt x="1922585" y="1733345"/>
                    <a:pt x="1900533" y="1733345"/>
                  </a:cubicBezTo>
                  <a:lnTo>
                    <a:pt x="39930" y="1733345"/>
                  </a:lnTo>
                  <a:cubicBezTo>
                    <a:pt x="17877" y="1733345"/>
                    <a:pt x="0" y="1715468"/>
                    <a:pt x="0" y="1693415"/>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761920"/>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459870" y="4256731"/>
            <a:ext cx="6919618" cy="4263334"/>
          </a:xfrm>
          <a:custGeom>
            <a:avLst/>
            <a:gdLst/>
            <a:ahLst/>
            <a:cxnLst/>
            <a:rect r="r" b="b" t="t" l="l"/>
            <a:pathLst>
              <a:path h="4263334" w="6919618">
                <a:moveTo>
                  <a:pt x="0" y="0"/>
                </a:moveTo>
                <a:lnTo>
                  <a:pt x="6919618" y="0"/>
                </a:lnTo>
                <a:lnTo>
                  <a:pt x="6919618" y="4263335"/>
                </a:lnTo>
                <a:lnTo>
                  <a:pt x="0" y="4263335"/>
                </a:lnTo>
                <a:lnTo>
                  <a:pt x="0" y="0"/>
                </a:lnTo>
                <a:close/>
              </a:path>
            </a:pathLst>
          </a:custGeom>
          <a:blipFill>
            <a:blip r:embed="rId11"/>
            <a:stretch>
              <a:fillRect l="0" t="0" r="0" b="0"/>
            </a:stretch>
          </a:blipFill>
        </p:spPr>
      </p:sp>
      <p:sp>
        <p:nvSpPr>
          <p:cNvPr name="Freeform 14" id="14"/>
          <p:cNvSpPr/>
          <p:nvPr/>
        </p:nvSpPr>
        <p:spPr>
          <a:xfrm flipH="false" flipV="false" rot="0">
            <a:off x="10058654" y="4012157"/>
            <a:ext cx="6205070" cy="4752483"/>
          </a:xfrm>
          <a:custGeom>
            <a:avLst/>
            <a:gdLst/>
            <a:ahLst/>
            <a:cxnLst/>
            <a:rect r="r" b="b" t="t" l="l"/>
            <a:pathLst>
              <a:path h="4752483" w="6205070">
                <a:moveTo>
                  <a:pt x="0" y="0"/>
                </a:moveTo>
                <a:lnTo>
                  <a:pt x="6205070" y="0"/>
                </a:lnTo>
                <a:lnTo>
                  <a:pt x="6205070" y="4752483"/>
                </a:lnTo>
                <a:lnTo>
                  <a:pt x="0" y="4752483"/>
                </a:lnTo>
                <a:lnTo>
                  <a:pt x="0" y="0"/>
                </a:lnTo>
                <a:close/>
              </a:path>
            </a:pathLst>
          </a:custGeom>
          <a:blipFill>
            <a:blip r:embed="rId12"/>
            <a:stretch>
              <a:fillRect l="0" t="0" r="0" b="0"/>
            </a:stretch>
          </a:blipFill>
        </p:spPr>
      </p:sp>
      <p:sp>
        <p:nvSpPr>
          <p:cNvPr name="TextBox 15" id="15"/>
          <p:cNvSpPr txBox="true"/>
          <p:nvPr/>
        </p:nvSpPr>
        <p:spPr>
          <a:xfrm rot="-227161">
            <a:off x="4907939" y="608550"/>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2761724"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038888"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1624331"/>
          </a:xfrm>
          <a:prstGeom prst="rect">
            <a:avLst/>
          </a:prstGeom>
        </p:spPr>
        <p:txBody>
          <a:bodyPr anchor="t" rtlCol="false" tIns="0" lIns="0" bIns="0" rIns="0">
            <a:spAutoFit/>
          </a:bodyPr>
          <a:lstStyle/>
          <a:p>
            <a:pPr algn="ctr">
              <a:lnSpc>
                <a:spcPts val="3200"/>
              </a:lnSpc>
            </a:pPr>
            <a:r>
              <a:rPr lang="en-US" sz="3200" b="true">
                <a:solidFill>
                  <a:srgbClr val="FFC033"/>
                </a:solidFill>
                <a:latin typeface="Noto Sans Bold"/>
                <a:ea typeface="Noto Sans Bold"/>
                <a:cs typeface="Noto Sans Bold"/>
                <a:sym typeface="Noto Sans Bold"/>
              </a:rPr>
              <a:t>Return all the track names that have a song l</a:t>
            </a:r>
            <a:r>
              <a:rPr lang="en-US" sz="3200" b="true">
                <a:solidFill>
                  <a:srgbClr val="FFC033"/>
                </a:solidFill>
                <a:latin typeface="Noto Sans Bold"/>
                <a:ea typeface="Noto Sans Bold"/>
                <a:cs typeface="Noto Sans Bold"/>
                <a:sym typeface="Noto Sans Bold"/>
              </a:rPr>
              <a:t>ength longer than the average song length. Return the Name and Milliseconds for each track. Order by the song length with the longest songs listed first.</a:t>
            </a:r>
          </a:p>
          <a:p>
            <a:pPr algn="ctr" marL="0" indent="0" lvl="0">
              <a:lnSpc>
                <a:spcPts val="32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78499" y="2677005"/>
            <a:ext cx="9245111" cy="7189066"/>
            <a:chOff x="0" y="0"/>
            <a:chExt cx="2434926" cy="1893417"/>
          </a:xfrm>
        </p:grpSpPr>
        <p:sp>
          <p:nvSpPr>
            <p:cNvPr name="Freeform 5" id="5"/>
            <p:cNvSpPr/>
            <p:nvPr/>
          </p:nvSpPr>
          <p:spPr>
            <a:xfrm flipH="false" flipV="false" rot="0">
              <a:off x="0" y="0"/>
              <a:ext cx="2434926" cy="1893417"/>
            </a:xfrm>
            <a:custGeom>
              <a:avLst/>
              <a:gdLst/>
              <a:ahLst/>
              <a:cxnLst/>
              <a:rect r="r" b="b" t="t" l="l"/>
              <a:pathLst>
                <a:path h="1893417" w="2434926">
                  <a:moveTo>
                    <a:pt x="31821" y="0"/>
                  </a:moveTo>
                  <a:lnTo>
                    <a:pt x="2403105" y="0"/>
                  </a:lnTo>
                  <a:cubicBezTo>
                    <a:pt x="2411544" y="0"/>
                    <a:pt x="2419638" y="3353"/>
                    <a:pt x="2425606" y="9320"/>
                  </a:cubicBezTo>
                  <a:cubicBezTo>
                    <a:pt x="2431574" y="15288"/>
                    <a:pt x="2434926" y="23382"/>
                    <a:pt x="2434926" y="31821"/>
                  </a:cubicBezTo>
                  <a:lnTo>
                    <a:pt x="2434926" y="1861595"/>
                  </a:lnTo>
                  <a:cubicBezTo>
                    <a:pt x="2434926" y="1870035"/>
                    <a:pt x="2431574" y="1878129"/>
                    <a:pt x="2425606" y="1884096"/>
                  </a:cubicBezTo>
                  <a:cubicBezTo>
                    <a:pt x="2419638" y="1890064"/>
                    <a:pt x="2411544" y="1893417"/>
                    <a:pt x="2403105" y="1893417"/>
                  </a:cubicBezTo>
                  <a:lnTo>
                    <a:pt x="31821" y="1893417"/>
                  </a:lnTo>
                  <a:cubicBezTo>
                    <a:pt x="23382" y="1893417"/>
                    <a:pt x="15288" y="1890064"/>
                    <a:pt x="9320" y="1884096"/>
                  </a:cubicBezTo>
                  <a:cubicBezTo>
                    <a:pt x="3353" y="1878129"/>
                    <a:pt x="0" y="1870035"/>
                    <a:pt x="0" y="1861595"/>
                  </a:cubicBezTo>
                  <a:lnTo>
                    <a:pt x="0" y="31821"/>
                  </a:lnTo>
                  <a:cubicBezTo>
                    <a:pt x="0" y="23382"/>
                    <a:pt x="3353" y="15288"/>
                    <a:pt x="9320" y="9320"/>
                  </a:cubicBezTo>
                  <a:cubicBezTo>
                    <a:pt x="15288" y="3353"/>
                    <a:pt x="23382" y="0"/>
                    <a:pt x="31821"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434926" cy="1921992"/>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10374960" y="2677005"/>
            <a:ext cx="7055337" cy="7189066"/>
            <a:chOff x="0" y="0"/>
            <a:chExt cx="1858196" cy="1893417"/>
          </a:xfrm>
        </p:grpSpPr>
        <p:sp>
          <p:nvSpPr>
            <p:cNvPr name="Freeform 8" id="8"/>
            <p:cNvSpPr/>
            <p:nvPr/>
          </p:nvSpPr>
          <p:spPr>
            <a:xfrm flipH="false" flipV="false" rot="0">
              <a:off x="0" y="0"/>
              <a:ext cx="1858196" cy="1893417"/>
            </a:xfrm>
            <a:custGeom>
              <a:avLst/>
              <a:gdLst/>
              <a:ahLst/>
              <a:cxnLst/>
              <a:rect r="r" b="b" t="t" l="l"/>
              <a:pathLst>
                <a:path h="1893417" w="1858196">
                  <a:moveTo>
                    <a:pt x="41698" y="0"/>
                  </a:moveTo>
                  <a:lnTo>
                    <a:pt x="1816498" y="0"/>
                  </a:lnTo>
                  <a:cubicBezTo>
                    <a:pt x="1839527" y="0"/>
                    <a:pt x="1858196" y="18669"/>
                    <a:pt x="1858196" y="41698"/>
                  </a:cubicBezTo>
                  <a:lnTo>
                    <a:pt x="1858196" y="1851719"/>
                  </a:lnTo>
                  <a:cubicBezTo>
                    <a:pt x="1858196" y="1874748"/>
                    <a:pt x="1839527" y="1893417"/>
                    <a:pt x="1816498" y="1893417"/>
                  </a:cubicBezTo>
                  <a:lnTo>
                    <a:pt x="41698" y="1893417"/>
                  </a:lnTo>
                  <a:cubicBezTo>
                    <a:pt x="18669" y="1893417"/>
                    <a:pt x="0" y="1874748"/>
                    <a:pt x="0" y="1851719"/>
                  </a:cubicBezTo>
                  <a:lnTo>
                    <a:pt x="0" y="41698"/>
                  </a:lnTo>
                  <a:cubicBezTo>
                    <a:pt x="0" y="18669"/>
                    <a:pt x="18669" y="0"/>
                    <a:pt x="41698"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858196" cy="1921992"/>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645509" y="7691136"/>
            <a:ext cx="4218508" cy="2830235"/>
          </a:xfrm>
          <a:custGeom>
            <a:avLst/>
            <a:gdLst/>
            <a:ahLst/>
            <a:cxnLst/>
            <a:rect r="r" b="b" t="t" l="l"/>
            <a:pathLst>
              <a:path h="2830235" w="4218508">
                <a:moveTo>
                  <a:pt x="0" y="0"/>
                </a:moveTo>
                <a:lnTo>
                  <a:pt x="4218508" y="0"/>
                </a:lnTo>
                <a:lnTo>
                  <a:pt x="4218508" y="2830235"/>
                </a:lnTo>
                <a:lnTo>
                  <a:pt x="0" y="2830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2704992" cy="4481162"/>
          </a:xfrm>
          <a:custGeom>
            <a:avLst/>
            <a:gdLst/>
            <a:ahLst/>
            <a:cxnLst/>
            <a:rect r="r" b="b" t="t" l="l"/>
            <a:pathLst>
              <a:path h="4481162" w="2704992">
                <a:moveTo>
                  <a:pt x="0" y="0"/>
                </a:moveTo>
                <a:lnTo>
                  <a:pt x="2704993" y="0"/>
                </a:lnTo>
                <a:lnTo>
                  <a:pt x="2704993" y="4481161"/>
                </a:lnTo>
                <a:lnTo>
                  <a:pt x="0" y="44811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27207" y="4048721"/>
            <a:ext cx="8482511" cy="5209579"/>
          </a:xfrm>
          <a:custGeom>
            <a:avLst/>
            <a:gdLst/>
            <a:ahLst/>
            <a:cxnLst/>
            <a:rect r="r" b="b" t="t" l="l"/>
            <a:pathLst>
              <a:path h="5209579" w="8482511">
                <a:moveTo>
                  <a:pt x="0" y="0"/>
                </a:moveTo>
                <a:lnTo>
                  <a:pt x="8482510" y="0"/>
                </a:lnTo>
                <a:lnTo>
                  <a:pt x="8482510" y="5209579"/>
                </a:lnTo>
                <a:lnTo>
                  <a:pt x="0" y="5209579"/>
                </a:lnTo>
                <a:lnTo>
                  <a:pt x="0" y="0"/>
                </a:lnTo>
                <a:close/>
              </a:path>
            </a:pathLst>
          </a:custGeom>
          <a:blipFill>
            <a:blip r:embed="rId11"/>
            <a:stretch>
              <a:fillRect l="0" t="0" r="0" b="0"/>
            </a:stretch>
          </a:blipFill>
        </p:spPr>
      </p:sp>
      <p:sp>
        <p:nvSpPr>
          <p:cNvPr name="Freeform 14" id="14"/>
          <p:cNvSpPr/>
          <p:nvPr/>
        </p:nvSpPr>
        <p:spPr>
          <a:xfrm flipH="false" flipV="false" rot="0">
            <a:off x="10779903" y="4139504"/>
            <a:ext cx="6245450" cy="5028014"/>
          </a:xfrm>
          <a:custGeom>
            <a:avLst/>
            <a:gdLst/>
            <a:ahLst/>
            <a:cxnLst/>
            <a:rect r="r" b="b" t="t" l="l"/>
            <a:pathLst>
              <a:path h="5028014" w="6245450">
                <a:moveTo>
                  <a:pt x="0" y="0"/>
                </a:moveTo>
                <a:lnTo>
                  <a:pt x="6245450" y="0"/>
                </a:lnTo>
                <a:lnTo>
                  <a:pt x="6245450" y="5028013"/>
                </a:lnTo>
                <a:lnTo>
                  <a:pt x="0" y="5028013"/>
                </a:lnTo>
                <a:lnTo>
                  <a:pt x="0" y="0"/>
                </a:lnTo>
                <a:close/>
              </a:path>
            </a:pathLst>
          </a:custGeom>
          <a:blipFill>
            <a:blip r:embed="rId12"/>
            <a:stretch>
              <a:fillRect l="0" t="0" r="0" b="0"/>
            </a:stretch>
          </a:blipFill>
        </p:spPr>
      </p:sp>
      <p:sp>
        <p:nvSpPr>
          <p:cNvPr name="TextBox 15" id="15"/>
          <p:cNvSpPr txBox="true"/>
          <p:nvPr/>
        </p:nvSpPr>
        <p:spPr>
          <a:xfrm rot="266165">
            <a:off x="4912036" y="608574"/>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3005345"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780327" y="3175822"/>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1224281"/>
          </a:xfrm>
          <a:prstGeom prst="rect">
            <a:avLst/>
          </a:prstGeom>
        </p:spPr>
        <p:txBody>
          <a:bodyPr anchor="t" rtlCol="false" tIns="0" lIns="0" bIns="0" rIns="0">
            <a:spAutoFit/>
          </a:bodyPr>
          <a:lstStyle/>
          <a:p>
            <a:pPr algn="ctr">
              <a:lnSpc>
                <a:spcPts val="3200"/>
              </a:lnSpc>
            </a:pPr>
            <a:r>
              <a:rPr lang="en-US" sz="3200" b="true">
                <a:solidFill>
                  <a:srgbClr val="FFC033"/>
                </a:solidFill>
                <a:latin typeface="Noto Sans Bold"/>
                <a:ea typeface="Noto Sans Bold"/>
                <a:cs typeface="Noto Sans Bold"/>
                <a:sym typeface="Noto Sans Bold"/>
              </a:rPr>
              <a:t>Find how much amount spent by each customer on </a:t>
            </a:r>
            <a:r>
              <a:rPr lang="en-US" sz="3200" b="true">
                <a:solidFill>
                  <a:srgbClr val="FFC033"/>
                </a:solidFill>
                <a:latin typeface="Noto Sans Bold"/>
                <a:ea typeface="Noto Sans Bold"/>
                <a:cs typeface="Noto Sans Bold"/>
                <a:sym typeface="Noto Sans Bold"/>
              </a:rPr>
              <a:t>artists? Write a query to return customer name, artist name and total spent.</a:t>
            </a:r>
          </a:p>
          <a:p>
            <a:pPr algn="ctr" marL="0" indent="0" lvl="0">
              <a:lnSpc>
                <a:spcPts val="32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3299015"/>
            <a:ext cx="7781958" cy="6769646"/>
            <a:chOff x="0" y="0"/>
            <a:chExt cx="2049569" cy="1782952"/>
          </a:xfrm>
        </p:grpSpPr>
        <p:sp>
          <p:nvSpPr>
            <p:cNvPr name="Freeform 5" id="5"/>
            <p:cNvSpPr/>
            <p:nvPr/>
          </p:nvSpPr>
          <p:spPr>
            <a:xfrm flipH="false" flipV="false" rot="0">
              <a:off x="0" y="0"/>
              <a:ext cx="2049569" cy="1782952"/>
            </a:xfrm>
            <a:custGeom>
              <a:avLst/>
              <a:gdLst/>
              <a:ahLst/>
              <a:cxnLst/>
              <a:rect r="r" b="b" t="t" l="l"/>
              <a:pathLst>
                <a:path h="1782952" w="2049569">
                  <a:moveTo>
                    <a:pt x="37804" y="0"/>
                  </a:moveTo>
                  <a:lnTo>
                    <a:pt x="2011765" y="0"/>
                  </a:lnTo>
                  <a:cubicBezTo>
                    <a:pt x="2032644" y="0"/>
                    <a:pt x="2049569" y="16926"/>
                    <a:pt x="2049569" y="37804"/>
                  </a:cubicBezTo>
                  <a:lnTo>
                    <a:pt x="2049569" y="1745148"/>
                  </a:lnTo>
                  <a:cubicBezTo>
                    <a:pt x="2049569" y="1755174"/>
                    <a:pt x="2045586" y="1764790"/>
                    <a:pt x="2038497" y="1771879"/>
                  </a:cubicBezTo>
                  <a:cubicBezTo>
                    <a:pt x="2031407" y="1778969"/>
                    <a:pt x="2021791" y="1782952"/>
                    <a:pt x="2011765" y="1782952"/>
                  </a:cubicBezTo>
                  <a:lnTo>
                    <a:pt x="37804" y="1782952"/>
                  </a:lnTo>
                  <a:cubicBezTo>
                    <a:pt x="27778" y="1782952"/>
                    <a:pt x="18162" y="1778969"/>
                    <a:pt x="11073" y="1771879"/>
                  </a:cubicBezTo>
                  <a:cubicBezTo>
                    <a:pt x="3983" y="1764790"/>
                    <a:pt x="0" y="1755174"/>
                    <a:pt x="0" y="1745148"/>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811527"/>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3295025"/>
            <a:ext cx="7367694" cy="6773637"/>
            <a:chOff x="0" y="0"/>
            <a:chExt cx="1940463" cy="1784003"/>
          </a:xfrm>
        </p:grpSpPr>
        <p:sp>
          <p:nvSpPr>
            <p:cNvPr name="Freeform 8" id="8"/>
            <p:cNvSpPr/>
            <p:nvPr/>
          </p:nvSpPr>
          <p:spPr>
            <a:xfrm flipH="false" flipV="false" rot="0">
              <a:off x="0" y="0"/>
              <a:ext cx="1940463" cy="1784003"/>
            </a:xfrm>
            <a:custGeom>
              <a:avLst/>
              <a:gdLst/>
              <a:ahLst/>
              <a:cxnLst/>
              <a:rect r="r" b="b" t="t" l="l"/>
              <a:pathLst>
                <a:path h="1784003" w="1940463">
                  <a:moveTo>
                    <a:pt x="39930" y="0"/>
                  </a:moveTo>
                  <a:lnTo>
                    <a:pt x="1900533" y="0"/>
                  </a:lnTo>
                  <a:cubicBezTo>
                    <a:pt x="1922585" y="0"/>
                    <a:pt x="1940463" y="17877"/>
                    <a:pt x="1940463" y="39930"/>
                  </a:cubicBezTo>
                  <a:lnTo>
                    <a:pt x="1940463" y="1744073"/>
                  </a:lnTo>
                  <a:cubicBezTo>
                    <a:pt x="1940463" y="1766126"/>
                    <a:pt x="1922585" y="1784003"/>
                    <a:pt x="1900533" y="1784003"/>
                  </a:cubicBezTo>
                  <a:lnTo>
                    <a:pt x="39930" y="1784003"/>
                  </a:lnTo>
                  <a:cubicBezTo>
                    <a:pt x="17877" y="1784003"/>
                    <a:pt x="0" y="1766126"/>
                    <a:pt x="0" y="1744073"/>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812578"/>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2244877" y="4325960"/>
            <a:ext cx="5349604" cy="5286027"/>
          </a:xfrm>
          <a:custGeom>
            <a:avLst/>
            <a:gdLst/>
            <a:ahLst/>
            <a:cxnLst/>
            <a:rect r="r" b="b" t="t" l="l"/>
            <a:pathLst>
              <a:path h="5286027" w="5349604">
                <a:moveTo>
                  <a:pt x="0" y="0"/>
                </a:moveTo>
                <a:lnTo>
                  <a:pt x="5349604" y="0"/>
                </a:lnTo>
                <a:lnTo>
                  <a:pt x="5349604" y="5286026"/>
                </a:lnTo>
                <a:lnTo>
                  <a:pt x="0" y="5286026"/>
                </a:lnTo>
                <a:lnTo>
                  <a:pt x="0" y="0"/>
                </a:lnTo>
                <a:close/>
              </a:path>
            </a:pathLst>
          </a:custGeom>
          <a:blipFill>
            <a:blip r:embed="rId11"/>
            <a:stretch>
              <a:fillRect l="0" t="0" r="0" b="0"/>
            </a:stretch>
          </a:blipFill>
        </p:spPr>
      </p:sp>
      <p:sp>
        <p:nvSpPr>
          <p:cNvPr name="Freeform 14" id="14"/>
          <p:cNvSpPr/>
          <p:nvPr/>
        </p:nvSpPr>
        <p:spPr>
          <a:xfrm flipH="false" flipV="false" rot="0">
            <a:off x="9902036" y="4423947"/>
            <a:ext cx="6518306" cy="5090052"/>
          </a:xfrm>
          <a:custGeom>
            <a:avLst/>
            <a:gdLst/>
            <a:ahLst/>
            <a:cxnLst/>
            <a:rect r="r" b="b" t="t" l="l"/>
            <a:pathLst>
              <a:path h="5090052" w="6518306">
                <a:moveTo>
                  <a:pt x="0" y="0"/>
                </a:moveTo>
                <a:lnTo>
                  <a:pt x="6518305" y="0"/>
                </a:lnTo>
                <a:lnTo>
                  <a:pt x="6518305" y="5090052"/>
                </a:lnTo>
                <a:lnTo>
                  <a:pt x="0" y="5090052"/>
                </a:lnTo>
                <a:lnTo>
                  <a:pt x="0" y="0"/>
                </a:lnTo>
                <a:close/>
              </a:path>
            </a:pathLst>
          </a:custGeom>
          <a:blipFill>
            <a:blip r:embed="rId12"/>
            <a:stretch>
              <a:fillRect l="0" t="0" r="0" b="0"/>
            </a:stretch>
          </a:blipFill>
        </p:spPr>
      </p:sp>
      <p:sp>
        <p:nvSpPr>
          <p:cNvPr name="TextBox 15" id="15"/>
          <p:cNvSpPr txBox="true"/>
          <p:nvPr/>
        </p:nvSpPr>
        <p:spPr>
          <a:xfrm rot="-227161">
            <a:off x="4907939" y="608550"/>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2797378" y="3640687"/>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038888" y="3640687"/>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2024381"/>
          </a:xfrm>
          <a:prstGeom prst="rect">
            <a:avLst/>
          </a:prstGeom>
        </p:spPr>
        <p:txBody>
          <a:bodyPr anchor="t" rtlCol="false" tIns="0" lIns="0" bIns="0" rIns="0">
            <a:spAutoFit/>
          </a:bodyPr>
          <a:lstStyle/>
          <a:p>
            <a:pPr algn="ctr" marL="0" indent="0" lvl="0">
              <a:lnSpc>
                <a:spcPts val="3200"/>
              </a:lnSpc>
            </a:pPr>
            <a:r>
              <a:rPr lang="en-US" b="true" sz="3200">
                <a:solidFill>
                  <a:srgbClr val="FFC033"/>
                </a:solidFill>
                <a:latin typeface="Noto Sans Bold"/>
                <a:ea typeface="Noto Sans Bold"/>
                <a:cs typeface="Noto Sans Bold"/>
                <a:sym typeface="Noto Sans Bold"/>
              </a:rPr>
              <a:t>We want to find out the most popular music Genre for </a:t>
            </a:r>
            <a:r>
              <a:rPr lang="en-US" b="true" sz="3200">
                <a:solidFill>
                  <a:srgbClr val="FFC033"/>
                </a:solidFill>
                <a:latin typeface="Noto Sans Bold"/>
                <a:ea typeface="Noto Sans Bold"/>
                <a:cs typeface="Noto Sans Bold"/>
                <a:sym typeface="Noto Sans Bold"/>
              </a:rPr>
              <a:t>each country. We determine the most popular genre as the genre with the highest amount of purchases. Write a query that returns each country along with the top Genre. For countries where the maximum number of purchases is shared return all Genres.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2259722" y="8520066"/>
            <a:ext cx="7387368" cy="4002610"/>
          </a:xfrm>
          <a:custGeom>
            <a:avLst/>
            <a:gdLst/>
            <a:ahLst/>
            <a:cxnLst/>
            <a:rect r="r" b="b" t="t" l="l"/>
            <a:pathLst>
              <a:path h="4002610" w="7387368">
                <a:moveTo>
                  <a:pt x="0" y="0"/>
                </a:moveTo>
                <a:lnTo>
                  <a:pt x="7387368" y="0"/>
                </a:lnTo>
                <a:lnTo>
                  <a:pt x="7387368" y="4002610"/>
                </a:lnTo>
                <a:lnTo>
                  <a:pt x="0" y="40026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3299015"/>
            <a:ext cx="7781958" cy="6769646"/>
            <a:chOff x="0" y="0"/>
            <a:chExt cx="2049569" cy="1782952"/>
          </a:xfrm>
        </p:grpSpPr>
        <p:sp>
          <p:nvSpPr>
            <p:cNvPr name="Freeform 5" id="5"/>
            <p:cNvSpPr/>
            <p:nvPr/>
          </p:nvSpPr>
          <p:spPr>
            <a:xfrm flipH="false" flipV="false" rot="0">
              <a:off x="0" y="0"/>
              <a:ext cx="2049569" cy="1782952"/>
            </a:xfrm>
            <a:custGeom>
              <a:avLst/>
              <a:gdLst/>
              <a:ahLst/>
              <a:cxnLst/>
              <a:rect r="r" b="b" t="t" l="l"/>
              <a:pathLst>
                <a:path h="1782952" w="2049569">
                  <a:moveTo>
                    <a:pt x="37804" y="0"/>
                  </a:moveTo>
                  <a:lnTo>
                    <a:pt x="2011765" y="0"/>
                  </a:lnTo>
                  <a:cubicBezTo>
                    <a:pt x="2032644" y="0"/>
                    <a:pt x="2049569" y="16926"/>
                    <a:pt x="2049569" y="37804"/>
                  </a:cubicBezTo>
                  <a:lnTo>
                    <a:pt x="2049569" y="1745148"/>
                  </a:lnTo>
                  <a:cubicBezTo>
                    <a:pt x="2049569" y="1755174"/>
                    <a:pt x="2045586" y="1764790"/>
                    <a:pt x="2038497" y="1771879"/>
                  </a:cubicBezTo>
                  <a:cubicBezTo>
                    <a:pt x="2031407" y="1778969"/>
                    <a:pt x="2021791" y="1782952"/>
                    <a:pt x="2011765" y="1782952"/>
                  </a:cubicBezTo>
                  <a:lnTo>
                    <a:pt x="37804" y="1782952"/>
                  </a:lnTo>
                  <a:cubicBezTo>
                    <a:pt x="27778" y="1782952"/>
                    <a:pt x="18162" y="1778969"/>
                    <a:pt x="11073" y="1771879"/>
                  </a:cubicBezTo>
                  <a:cubicBezTo>
                    <a:pt x="3983" y="1764790"/>
                    <a:pt x="0" y="1755174"/>
                    <a:pt x="0" y="1745148"/>
                  </a:cubicBezTo>
                  <a:lnTo>
                    <a:pt x="0" y="37804"/>
                  </a:lnTo>
                  <a:cubicBezTo>
                    <a:pt x="0" y="27778"/>
                    <a:pt x="3983" y="18162"/>
                    <a:pt x="11073" y="11073"/>
                  </a:cubicBezTo>
                  <a:cubicBezTo>
                    <a:pt x="18162" y="3983"/>
                    <a:pt x="27778" y="0"/>
                    <a:pt x="37804"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2049569" cy="1811527"/>
            </a:xfrm>
            <a:prstGeom prst="rect">
              <a:avLst/>
            </a:prstGeom>
          </p:spPr>
          <p:txBody>
            <a:bodyPr anchor="ctr" rtlCol="false" tIns="50800" lIns="50800" bIns="50800" rIns="50800"/>
            <a:lstStyle/>
            <a:p>
              <a:pPr algn="ctr">
                <a:lnSpc>
                  <a:spcPts val="2730"/>
                </a:lnSpc>
              </a:pPr>
            </a:p>
          </p:txBody>
        </p:sp>
      </p:grpSp>
      <p:grpSp>
        <p:nvGrpSpPr>
          <p:cNvPr name="Group 7" id="7"/>
          <p:cNvGrpSpPr/>
          <p:nvPr/>
        </p:nvGrpSpPr>
        <p:grpSpPr>
          <a:xfrm rot="0">
            <a:off x="9477342" y="3295025"/>
            <a:ext cx="7367694" cy="6773637"/>
            <a:chOff x="0" y="0"/>
            <a:chExt cx="1940463" cy="1784003"/>
          </a:xfrm>
        </p:grpSpPr>
        <p:sp>
          <p:nvSpPr>
            <p:cNvPr name="Freeform 8" id="8"/>
            <p:cNvSpPr/>
            <p:nvPr/>
          </p:nvSpPr>
          <p:spPr>
            <a:xfrm flipH="false" flipV="false" rot="0">
              <a:off x="0" y="0"/>
              <a:ext cx="1940463" cy="1784003"/>
            </a:xfrm>
            <a:custGeom>
              <a:avLst/>
              <a:gdLst/>
              <a:ahLst/>
              <a:cxnLst/>
              <a:rect r="r" b="b" t="t" l="l"/>
              <a:pathLst>
                <a:path h="1784003" w="1940463">
                  <a:moveTo>
                    <a:pt x="39930" y="0"/>
                  </a:moveTo>
                  <a:lnTo>
                    <a:pt x="1900533" y="0"/>
                  </a:lnTo>
                  <a:cubicBezTo>
                    <a:pt x="1922585" y="0"/>
                    <a:pt x="1940463" y="17877"/>
                    <a:pt x="1940463" y="39930"/>
                  </a:cubicBezTo>
                  <a:lnTo>
                    <a:pt x="1940463" y="1744073"/>
                  </a:lnTo>
                  <a:cubicBezTo>
                    <a:pt x="1940463" y="1766126"/>
                    <a:pt x="1922585" y="1784003"/>
                    <a:pt x="1900533" y="1784003"/>
                  </a:cubicBezTo>
                  <a:lnTo>
                    <a:pt x="39930" y="1784003"/>
                  </a:lnTo>
                  <a:cubicBezTo>
                    <a:pt x="17877" y="1784003"/>
                    <a:pt x="0" y="1766126"/>
                    <a:pt x="0" y="1744073"/>
                  </a:cubicBezTo>
                  <a:lnTo>
                    <a:pt x="0" y="39930"/>
                  </a:lnTo>
                  <a:cubicBezTo>
                    <a:pt x="0" y="17877"/>
                    <a:pt x="17877" y="0"/>
                    <a:pt x="39930" y="0"/>
                  </a:cubicBezTo>
                  <a:close/>
                </a:path>
              </a:pathLst>
            </a:custGeom>
            <a:solidFill>
              <a:srgbClr val="8D2C91"/>
            </a:solidFill>
            <a:ln w="171450" cap="rnd">
              <a:solidFill>
                <a:srgbClr val="FFC033"/>
              </a:solidFill>
              <a:prstDash val="solid"/>
              <a:round/>
            </a:ln>
          </p:spPr>
        </p:sp>
        <p:sp>
          <p:nvSpPr>
            <p:cNvPr name="TextBox 9" id="9"/>
            <p:cNvSpPr txBox="true"/>
            <p:nvPr/>
          </p:nvSpPr>
          <p:spPr>
            <a:xfrm>
              <a:off x="0" y="-28575"/>
              <a:ext cx="1940463" cy="1812578"/>
            </a:xfrm>
            <a:prstGeom prst="rect">
              <a:avLst/>
            </a:prstGeom>
          </p:spPr>
          <p:txBody>
            <a:bodyPr anchor="ctr" rtlCol="false" tIns="50800" lIns="50800" bIns="50800" rIns="50800"/>
            <a:lstStyle/>
            <a:p>
              <a:pPr algn="ctr">
                <a:lnSpc>
                  <a:spcPts val="2730"/>
                </a:lnSpc>
              </a:pPr>
            </a:p>
          </p:txBody>
        </p:sp>
      </p:grpSp>
      <p:sp>
        <p:nvSpPr>
          <p:cNvPr name="Freeform 10" id="10"/>
          <p:cNvSpPr/>
          <p:nvPr/>
        </p:nvSpPr>
        <p:spPr>
          <a:xfrm flipH="false" flipV="false" rot="0">
            <a:off x="17106724" y="7329660"/>
            <a:ext cx="4757293" cy="3191711"/>
          </a:xfrm>
          <a:custGeom>
            <a:avLst/>
            <a:gdLst/>
            <a:ahLst/>
            <a:cxnLst/>
            <a:rect r="r" b="b" t="t" l="l"/>
            <a:pathLst>
              <a:path h="3191711" w="4757293">
                <a:moveTo>
                  <a:pt x="0" y="0"/>
                </a:moveTo>
                <a:lnTo>
                  <a:pt x="4757293" y="0"/>
                </a:lnTo>
                <a:lnTo>
                  <a:pt x="4757293" y="3191711"/>
                </a:lnTo>
                <a:lnTo>
                  <a:pt x="0" y="319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77786" y="-1678269"/>
            <a:ext cx="3002061" cy="4973294"/>
          </a:xfrm>
          <a:custGeom>
            <a:avLst/>
            <a:gdLst/>
            <a:ahLst/>
            <a:cxnLst/>
            <a:rect r="r" b="b" t="t" l="l"/>
            <a:pathLst>
              <a:path h="4973294" w="3002061">
                <a:moveTo>
                  <a:pt x="0" y="0"/>
                </a:moveTo>
                <a:lnTo>
                  <a:pt x="3002062" y="0"/>
                </a:lnTo>
                <a:lnTo>
                  <a:pt x="3002062" y="4973294"/>
                </a:lnTo>
                <a:lnTo>
                  <a:pt x="0" y="4973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259300" y="684773"/>
            <a:ext cx="1838845" cy="2437024"/>
          </a:xfrm>
          <a:custGeom>
            <a:avLst/>
            <a:gdLst/>
            <a:ahLst/>
            <a:cxnLst/>
            <a:rect r="r" b="b" t="t" l="l"/>
            <a:pathLst>
              <a:path h="2437024" w="1838845">
                <a:moveTo>
                  <a:pt x="0" y="0"/>
                </a:moveTo>
                <a:lnTo>
                  <a:pt x="1838845" y="0"/>
                </a:lnTo>
                <a:lnTo>
                  <a:pt x="1838845" y="2437023"/>
                </a:lnTo>
                <a:lnTo>
                  <a:pt x="0" y="24370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861802" y="4881105"/>
            <a:ext cx="6598774" cy="4044410"/>
          </a:xfrm>
          <a:custGeom>
            <a:avLst/>
            <a:gdLst/>
            <a:ahLst/>
            <a:cxnLst/>
            <a:rect r="r" b="b" t="t" l="l"/>
            <a:pathLst>
              <a:path h="4044410" w="6598774">
                <a:moveTo>
                  <a:pt x="0" y="0"/>
                </a:moveTo>
                <a:lnTo>
                  <a:pt x="6598774" y="0"/>
                </a:lnTo>
                <a:lnTo>
                  <a:pt x="6598774" y="4044410"/>
                </a:lnTo>
                <a:lnTo>
                  <a:pt x="0" y="4044410"/>
                </a:lnTo>
                <a:lnTo>
                  <a:pt x="0" y="0"/>
                </a:lnTo>
                <a:close/>
              </a:path>
            </a:pathLst>
          </a:custGeom>
          <a:blipFill>
            <a:blip r:embed="rId11"/>
            <a:stretch>
              <a:fillRect l="0" t="0" r="0" b="0"/>
            </a:stretch>
          </a:blipFill>
        </p:spPr>
      </p:sp>
      <p:sp>
        <p:nvSpPr>
          <p:cNvPr name="Freeform 14" id="14"/>
          <p:cNvSpPr/>
          <p:nvPr/>
        </p:nvSpPr>
        <p:spPr>
          <a:xfrm flipH="false" flipV="false" rot="0">
            <a:off x="3088640" y="3605148"/>
            <a:ext cx="4986549" cy="6145040"/>
          </a:xfrm>
          <a:custGeom>
            <a:avLst/>
            <a:gdLst/>
            <a:ahLst/>
            <a:cxnLst/>
            <a:rect r="r" b="b" t="t" l="l"/>
            <a:pathLst>
              <a:path h="6145040" w="4986549">
                <a:moveTo>
                  <a:pt x="0" y="0"/>
                </a:moveTo>
                <a:lnTo>
                  <a:pt x="4986549" y="0"/>
                </a:lnTo>
                <a:lnTo>
                  <a:pt x="4986549" y="6145041"/>
                </a:lnTo>
                <a:lnTo>
                  <a:pt x="0" y="6145041"/>
                </a:lnTo>
                <a:lnTo>
                  <a:pt x="0" y="0"/>
                </a:lnTo>
                <a:close/>
              </a:path>
            </a:pathLst>
          </a:custGeom>
          <a:blipFill>
            <a:blip r:embed="rId12"/>
            <a:stretch>
              <a:fillRect l="0" t="0" r="0" b="0"/>
            </a:stretch>
          </a:blipFill>
        </p:spPr>
      </p:sp>
      <p:sp>
        <p:nvSpPr>
          <p:cNvPr name="TextBox 15" id="15"/>
          <p:cNvSpPr txBox="true"/>
          <p:nvPr/>
        </p:nvSpPr>
        <p:spPr>
          <a:xfrm rot="223690">
            <a:off x="4911684" y="608548"/>
            <a:ext cx="8489204" cy="1047750"/>
          </a:xfrm>
          <a:prstGeom prst="rect">
            <a:avLst/>
          </a:prstGeom>
        </p:spPr>
        <p:txBody>
          <a:bodyPr anchor="t" rtlCol="false" tIns="0" lIns="0" bIns="0" rIns="0">
            <a:spAutoFit/>
          </a:bodyPr>
          <a:lstStyle/>
          <a:p>
            <a:pPr algn="ctr">
              <a:lnSpc>
                <a:spcPts val="4200"/>
              </a:lnSpc>
            </a:pPr>
            <a:r>
              <a:rPr lang="en-US" b="true" sz="3000">
                <a:solidFill>
                  <a:srgbClr val="8D2C91"/>
                </a:solidFill>
                <a:latin typeface="Noto Sans Bold"/>
                <a:ea typeface="Noto Sans Bold"/>
                <a:cs typeface="Noto Sans Bold"/>
                <a:sym typeface="Noto Sans Bold"/>
              </a:rPr>
              <a:t>Advanced SQL Analysis</a:t>
            </a:r>
          </a:p>
          <a:p>
            <a:pPr algn="ctr">
              <a:lnSpc>
                <a:spcPts val="4200"/>
              </a:lnSpc>
            </a:pPr>
          </a:p>
        </p:txBody>
      </p:sp>
      <p:sp>
        <p:nvSpPr>
          <p:cNvPr name="TextBox 16" id="16"/>
          <p:cNvSpPr txBox="true"/>
          <p:nvPr/>
        </p:nvSpPr>
        <p:spPr>
          <a:xfrm rot="0">
            <a:off x="0" y="6462418"/>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Query</a:t>
            </a:r>
          </a:p>
        </p:txBody>
      </p:sp>
      <p:sp>
        <p:nvSpPr>
          <p:cNvPr name="TextBox 17" id="17"/>
          <p:cNvSpPr txBox="true"/>
          <p:nvPr/>
        </p:nvSpPr>
        <p:spPr>
          <a:xfrm rot="0">
            <a:off x="11038888" y="3859679"/>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Result</a:t>
            </a:r>
          </a:p>
        </p:txBody>
      </p:sp>
      <p:sp>
        <p:nvSpPr>
          <p:cNvPr name="TextBox 18" id="18"/>
          <p:cNvSpPr txBox="true"/>
          <p:nvPr/>
        </p:nvSpPr>
        <p:spPr>
          <a:xfrm rot="0">
            <a:off x="1224276" y="1274634"/>
            <a:ext cx="15882448" cy="1624331"/>
          </a:xfrm>
          <a:prstGeom prst="rect">
            <a:avLst/>
          </a:prstGeom>
        </p:spPr>
        <p:txBody>
          <a:bodyPr anchor="t" rtlCol="false" tIns="0" lIns="0" bIns="0" rIns="0">
            <a:spAutoFit/>
          </a:bodyPr>
          <a:lstStyle/>
          <a:p>
            <a:pPr algn="ctr" marL="0" indent="0" lvl="0">
              <a:lnSpc>
                <a:spcPts val="3200"/>
              </a:lnSpc>
            </a:pPr>
            <a:r>
              <a:rPr lang="en-US" b="true" sz="3200">
                <a:solidFill>
                  <a:srgbClr val="FFC033"/>
                </a:solidFill>
                <a:latin typeface="Noto Sans Bold"/>
                <a:ea typeface="Noto Sans Bold"/>
                <a:cs typeface="Noto Sans Bold"/>
                <a:sym typeface="Noto Sans Bold"/>
              </a:rPr>
              <a:t>Write a query t</a:t>
            </a:r>
            <a:r>
              <a:rPr lang="en-US" b="true" sz="3200">
                <a:solidFill>
                  <a:srgbClr val="FFC033"/>
                </a:solidFill>
                <a:latin typeface="Noto Sans Bold"/>
                <a:ea typeface="Noto Sans Bold"/>
                <a:cs typeface="Noto Sans Bold"/>
                <a:sym typeface="Noto Sans Bold"/>
              </a:rPr>
              <a:t>hat determines the customer that has spent the most on music for each country. Write a query that returns the country along with the top customer and how much they spent. For countries where the top amount spent is shared, provide all customers who spent this amount.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grpSp>
        <p:nvGrpSpPr>
          <p:cNvPr name="Group 3" id="3"/>
          <p:cNvGrpSpPr/>
          <p:nvPr/>
        </p:nvGrpSpPr>
        <p:grpSpPr>
          <a:xfrm rot="0">
            <a:off x="1192264" y="4094554"/>
            <a:ext cx="4991199" cy="5572601"/>
            <a:chOff x="0" y="0"/>
            <a:chExt cx="1314554" cy="1467681"/>
          </a:xfrm>
        </p:grpSpPr>
        <p:sp>
          <p:nvSpPr>
            <p:cNvPr name="Freeform 4" id="4"/>
            <p:cNvSpPr/>
            <p:nvPr/>
          </p:nvSpPr>
          <p:spPr>
            <a:xfrm flipH="false" flipV="false" rot="0">
              <a:off x="0" y="0"/>
              <a:ext cx="1314554" cy="1467681"/>
            </a:xfrm>
            <a:custGeom>
              <a:avLst/>
              <a:gdLst/>
              <a:ahLst/>
              <a:cxnLst/>
              <a:rect r="r" b="b" t="t" l="l"/>
              <a:pathLst>
                <a:path h="1467681" w="1314554">
                  <a:moveTo>
                    <a:pt x="58942" y="0"/>
                  </a:moveTo>
                  <a:lnTo>
                    <a:pt x="1255612" y="0"/>
                  </a:lnTo>
                  <a:cubicBezTo>
                    <a:pt x="1271245" y="0"/>
                    <a:pt x="1286237" y="6210"/>
                    <a:pt x="1297291" y="17264"/>
                  </a:cubicBezTo>
                  <a:cubicBezTo>
                    <a:pt x="1308344" y="28318"/>
                    <a:pt x="1314554" y="43310"/>
                    <a:pt x="1314554" y="58942"/>
                  </a:cubicBezTo>
                  <a:lnTo>
                    <a:pt x="1314554" y="1408738"/>
                  </a:lnTo>
                  <a:cubicBezTo>
                    <a:pt x="1314554" y="1441291"/>
                    <a:pt x="1288165" y="1467681"/>
                    <a:pt x="1255612" y="1467681"/>
                  </a:cubicBezTo>
                  <a:lnTo>
                    <a:pt x="58942" y="1467681"/>
                  </a:lnTo>
                  <a:cubicBezTo>
                    <a:pt x="26389" y="1467681"/>
                    <a:pt x="0" y="1441291"/>
                    <a:pt x="0" y="1408738"/>
                  </a:cubicBezTo>
                  <a:lnTo>
                    <a:pt x="0" y="58942"/>
                  </a:lnTo>
                  <a:cubicBezTo>
                    <a:pt x="0" y="26389"/>
                    <a:pt x="26389" y="0"/>
                    <a:pt x="58942" y="0"/>
                  </a:cubicBezTo>
                  <a:close/>
                </a:path>
              </a:pathLst>
            </a:custGeom>
            <a:solidFill>
              <a:srgbClr val="8D2C91"/>
            </a:solidFill>
            <a:ln w="171450" cap="rnd">
              <a:solidFill>
                <a:srgbClr val="FFC033"/>
              </a:solidFill>
              <a:prstDash val="solid"/>
              <a:round/>
            </a:ln>
          </p:spPr>
        </p:sp>
        <p:sp>
          <p:nvSpPr>
            <p:cNvPr name="TextBox 5" id="5"/>
            <p:cNvSpPr txBox="true"/>
            <p:nvPr/>
          </p:nvSpPr>
          <p:spPr>
            <a:xfrm>
              <a:off x="0" y="-28575"/>
              <a:ext cx="1314554" cy="1496256"/>
            </a:xfrm>
            <a:prstGeom prst="rect">
              <a:avLst/>
            </a:prstGeom>
          </p:spPr>
          <p:txBody>
            <a:bodyPr anchor="ctr" rtlCol="false" tIns="50800" lIns="50800" bIns="50800" rIns="50800"/>
            <a:lstStyle/>
            <a:p>
              <a:pPr algn="ctr">
                <a:lnSpc>
                  <a:spcPts val="2730"/>
                </a:lnSpc>
              </a:pPr>
            </a:p>
          </p:txBody>
        </p:sp>
      </p:grpSp>
      <p:grpSp>
        <p:nvGrpSpPr>
          <p:cNvPr name="Group 6" id="6"/>
          <p:cNvGrpSpPr/>
          <p:nvPr/>
        </p:nvGrpSpPr>
        <p:grpSpPr>
          <a:xfrm rot="0">
            <a:off x="6648401" y="4094554"/>
            <a:ext cx="4991199" cy="5572601"/>
            <a:chOff x="0" y="0"/>
            <a:chExt cx="1314554" cy="1467681"/>
          </a:xfrm>
        </p:grpSpPr>
        <p:sp>
          <p:nvSpPr>
            <p:cNvPr name="Freeform 7" id="7"/>
            <p:cNvSpPr/>
            <p:nvPr/>
          </p:nvSpPr>
          <p:spPr>
            <a:xfrm flipH="false" flipV="false" rot="0">
              <a:off x="0" y="0"/>
              <a:ext cx="1314554" cy="1467681"/>
            </a:xfrm>
            <a:custGeom>
              <a:avLst/>
              <a:gdLst/>
              <a:ahLst/>
              <a:cxnLst/>
              <a:rect r="r" b="b" t="t" l="l"/>
              <a:pathLst>
                <a:path h="1467681" w="1314554">
                  <a:moveTo>
                    <a:pt x="58942" y="0"/>
                  </a:moveTo>
                  <a:lnTo>
                    <a:pt x="1255612" y="0"/>
                  </a:lnTo>
                  <a:cubicBezTo>
                    <a:pt x="1271245" y="0"/>
                    <a:pt x="1286237" y="6210"/>
                    <a:pt x="1297291" y="17264"/>
                  </a:cubicBezTo>
                  <a:cubicBezTo>
                    <a:pt x="1308344" y="28318"/>
                    <a:pt x="1314554" y="43310"/>
                    <a:pt x="1314554" y="58942"/>
                  </a:cubicBezTo>
                  <a:lnTo>
                    <a:pt x="1314554" y="1408738"/>
                  </a:lnTo>
                  <a:cubicBezTo>
                    <a:pt x="1314554" y="1441291"/>
                    <a:pt x="1288165" y="1467681"/>
                    <a:pt x="1255612" y="1467681"/>
                  </a:cubicBezTo>
                  <a:lnTo>
                    <a:pt x="58942" y="1467681"/>
                  </a:lnTo>
                  <a:cubicBezTo>
                    <a:pt x="26389" y="1467681"/>
                    <a:pt x="0" y="1441291"/>
                    <a:pt x="0" y="1408738"/>
                  </a:cubicBezTo>
                  <a:lnTo>
                    <a:pt x="0" y="58942"/>
                  </a:lnTo>
                  <a:cubicBezTo>
                    <a:pt x="0" y="26389"/>
                    <a:pt x="26389" y="0"/>
                    <a:pt x="58942" y="0"/>
                  </a:cubicBezTo>
                  <a:close/>
                </a:path>
              </a:pathLst>
            </a:custGeom>
            <a:solidFill>
              <a:srgbClr val="8D2C91"/>
            </a:solidFill>
            <a:ln w="171450" cap="rnd">
              <a:solidFill>
                <a:srgbClr val="FFC033"/>
              </a:solidFill>
              <a:prstDash val="solid"/>
              <a:round/>
            </a:ln>
          </p:spPr>
        </p:sp>
        <p:sp>
          <p:nvSpPr>
            <p:cNvPr name="TextBox 8" id="8"/>
            <p:cNvSpPr txBox="true"/>
            <p:nvPr/>
          </p:nvSpPr>
          <p:spPr>
            <a:xfrm>
              <a:off x="0" y="-28575"/>
              <a:ext cx="1314554" cy="1496256"/>
            </a:xfrm>
            <a:prstGeom prst="rect">
              <a:avLst/>
            </a:prstGeom>
          </p:spPr>
          <p:txBody>
            <a:bodyPr anchor="ctr" rtlCol="false" tIns="50800" lIns="50800" bIns="50800" rIns="50800"/>
            <a:lstStyle/>
            <a:p>
              <a:pPr algn="ctr">
                <a:lnSpc>
                  <a:spcPts val="2730"/>
                </a:lnSpc>
              </a:pPr>
            </a:p>
          </p:txBody>
        </p:sp>
      </p:grpSp>
      <p:grpSp>
        <p:nvGrpSpPr>
          <p:cNvPr name="Group 9" id="9"/>
          <p:cNvGrpSpPr/>
          <p:nvPr/>
        </p:nvGrpSpPr>
        <p:grpSpPr>
          <a:xfrm rot="0">
            <a:off x="12104538" y="4094554"/>
            <a:ext cx="4991199" cy="5572601"/>
            <a:chOff x="0" y="0"/>
            <a:chExt cx="1314554" cy="1467681"/>
          </a:xfrm>
        </p:grpSpPr>
        <p:sp>
          <p:nvSpPr>
            <p:cNvPr name="Freeform 10" id="10"/>
            <p:cNvSpPr/>
            <p:nvPr/>
          </p:nvSpPr>
          <p:spPr>
            <a:xfrm flipH="false" flipV="false" rot="0">
              <a:off x="0" y="0"/>
              <a:ext cx="1314554" cy="1467681"/>
            </a:xfrm>
            <a:custGeom>
              <a:avLst/>
              <a:gdLst/>
              <a:ahLst/>
              <a:cxnLst/>
              <a:rect r="r" b="b" t="t" l="l"/>
              <a:pathLst>
                <a:path h="1467681" w="1314554">
                  <a:moveTo>
                    <a:pt x="58942" y="0"/>
                  </a:moveTo>
                  <a:lnTo>
                    <a:pt x="1255612" y="0"/>
                  </a:lnTo>
                  <a:cubicBezTo>
                    <a:pt x="1271245" y="0"/>
                    <a:pt x="1286237" y="6210"/>
                    <a:pt x="1297291" y="17264"/>
                  </a:cubicBezTo>
                  <a:cubicBezTo>
                    <a:pt x="1308344" y="28318"/>
                    <a:pt x="1314554" y="43310"/>
                    <a:pt x="1314554" y="58942"/>
                  </a:cubicBezTo>
                  <a:lnTo>
                    <a:pt x="1314554" y="1408738"/>
                  </a:lnTo>
                  <a:cubicBezTo>
                    <a:pt x="1314554" y="1441291"/>
                    <a:pt x="1288165" y="1467681"/>
                    <a:pt x="1255612" y="1467681"/>
                  </a:cubicBezTo>
                  <a:lnTo>
                    <a:pt x="58942" y="1467681"/>
                  </a:lnTo>
                  <a:cubicBezTo>
                    <a:pt x="26389" y="1467681"/>
                    <a:pt x="0" y="1441291"/>
                    <a:pt x="0" y="1408738"/>
                  </a:cubicBezTo>
                  <a:lnTo>
                    <a:pt x="0" y="58942"/>
                  </a:lnTo>
                  <a:cubicBezTo>
                    <a:pt x="0" y="26389"/>
                    <a:pt x="26389" y="0"/>
                    <a:pt x="58942" y="0"/>
                  </a:cubicBezTo>
                  <a:close/>
                </a:path>
              </a:pathLst>
            </a:custGeom>
            <a:solidFill>
              <a:srgbClr val="8D2C91"/>
            </a:solidFill>
            <a:ln w="171450" cap="rnd">
              <a:solidFill>
                <a:srgbClr val="FFC033"/>
              </a:solidFill>
              <a:prstDash val="solid"/>
              <a:round/>
            </a:ln>
          </p:spPr>
        </p:sp>
        <p:sp>
          <p:nvSpPr>
            <p:cNvPr name="TextBox 11" id="11"/>
            <p:cNvSpPr txBox="true"/>
            <p:nvPr/>
          </p:nvSpPr>
          <p:spPr>
            <a:xfrm>
              <a:off x="0" y="-28575"/>
              <a:ext cx="1314554" cy="1496256"/>
            </a:xfrm>
            <a:prstGeom prst="rect">
              <a:avLst/>
            </a:prstGeom>
          </p:spPr>
          <p:txBody>
            <a:bodyPr anchor="ctr" rtlCol="false" tIns="50800" lIns="50800" bIns="50800" rIns="50800"/>
            <a:lstStyle/>
            <a:p>
              <a:pPr algn="ctr">
                <a:lnSpc>
                  <a:spcPts val="2730"/>
                </a:lnSpc>
              </a:pPr>
            </a:p>
          </p:txBody>
        </p:sp>
      </p:grpSp>
      <p:sp>
        <p:nvSpPr>
          <p:cNvPr name="Freeform 12" id="12"/>
          <p:cNvSpPr/>
          <p:nvPr/>
        </p:nvSpPr>
        <p:spPr>
          <a:xfrm flipH="false" flipV="false" rot="0">
            <a:off x="15862569" y="-1155769"/>
            <a:ext cx="2668302" cy="4420379"/>
          </a:xfrm>
          <a:custGeom>
            <a:avLst/>
            <a:gdLst/>
            <a:ahLst/>
            <a:cxnLst/>
            <a:rect r="r" b="b" t="t" l="l"/>
            <a:pathLst>
              <a:path h="4420379" w="2668302">
                <a:moveTo>
                  <a:pt x="0" y="0"/>
                </a:moveTo>
                <a:lnTo>
                  <a:pt x="2668302" y="0"/>
                </a:lnTo>
                <a:lnTo>
                  <a:pt x="2668302" y="4420379"/>
                </a:lnTo>
                <a:lnTo>
                  <a:pt x="0" y="44203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944564">
            <a:off x="-379463" y="634998"/>
            <a:ext cx="2447447" cy="3243605"/>
          </a:xfrm>
          <a:custGeom>
            <a:avLst/>
            <a:gdLst/>
            <a:ahLst/>
            <a:cxnLst/>
            <a:rect r="r" b="b" t="t" l="l"/>
            <a:pathLst>
              <a:path h="3243605" w="2447447">
                <a:moveTo>
                  <a:pt x="0" y="0"/>
                </a:moveTo>
                <a:lnTo>
                  <a:pt x="2447448" y="0"/>
                </a:lnTo>
                <a:lnTo>
                  <a:pt x="2447448" y="3243605"/>
                </a:lnTo>
                <a:lnTo>
                  <a:pt x="0" y="32436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2074125" y="2456825"/>
            <a:ext cx="14139749" cy="857248"/>
          </a:xfrm>
          <a:prstGeom prst="rect">
            <a:avLst/>
          </a:prstGeom>
        </p:spPr>
        <p:txBody>
          <a:bodyPr anchor="t" rtlCol="false" tIns="0" lIns="0" bIns="0" rIns="0">
            <a:spAutoFit/>
          </a:bodyPr>
          <a:lstStyle/>
          <a:p>
            <a:pPr algn="ctr" marL="0" indent="0" lvl="0">
              <a:lnSpc>
                <a:spcPts val="6299"/>
              </a:lnSpc>
            </a:pPr>
            <a:r>
              <a:rPr lang="en-US" b="true" sz="6999" spc="-223">
                <a:solidFill>
                  <a:srgbClr val="FFC033"/>
                </a:solidFill>
                <a:latin typeface="Noto Sans Bold"/>
                <a:ea typeface="Noto Sans Bold"/>
                <a:cs typeface="Noto Sans Bold"/>
                <a:sym typeface="Noto Sans Bold"/>
              </a:rPr>
              <a:t>STRATEG</a:t>
            </a:r>
            <a:r>
              <a:rPr lang="en-US" b="true" sz="6999" spc="-223" strike="noStrike" u="none">
                <a:solidFill>
                  <a:srgbClr val="FFC033"/>
                </a:solidFill>
                <a:latin typeface="Noto Sans Bold"/>
                <a:ea typeface="Noto Sans Bold"/>
                <a:cs typeface="Noto Sans Bold"/>
                <a:sym typeface="Noto Sans Bold"/>
              </a:rPr>
              <a:t>IC INSIGHTS</a:t>
            </a:r>
          </a:p>
        </p:txBody>
      </p:sp>
      <p:sp>
        <p:nvSpPr>
          <p:cNvPr name="TextBox 15" id="15"/>
          <p:cNvSpPr txBox="true"/>
          <p:nvPr/>
        </p:nvSpPr>
        <p:spPr>
          <a:xfrm rot="-270528">
            <a:off x="4891605" y="1501446"/>
            <a:ext cx="8489204"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8D2C91"/>
                </a:solidFill>
                <a:latin typeface="Noto Sans Bold"/>
                <a:ea typeface="Noto Sans Bold"/>
                <a:cs typeface="Noto Sans Bold"/>
                <a:sym typeface="Noto Sans Bold"/>
              </a:rPr>
              <a:t>Opportunities for</a:t>
            </a:r>
          </a:p>
        </p:txBody>
      </p:sp>
      <p:sp>
        <p:nvSpPr>
          <p:cNvPr name="TextBox 16" id="16"/>
          <p:cNvSpPr txBox="true"/>
          <p:nvPr/>
        </p:nvSpPr>
        <p:spPr>
          <a:xfrm rot="0">
            <a:off x="1565562" y="5502928"/>
            <a:ext cx="3873164" cy="3887470"/>
          </a:xfrm>
          <a:prstGeom prst="rect">
            <a:avLst/>
          </a:prstGeom>
        </p:spPr>
        <p:txBody>
          <a:bodyPr anchor="t" rtlCol="false" tIns="0" lIns="0" bIns="0" rIns="0">
            <a:spAutoFit/>
          </a:bodyPr>
          <a:lstStyle/>
          <a:p>
            <a:pPr algn="ctr" marL="474979" indent="-237490" lvl="1">
              <a:lnSpc>
                <a:spcPts val="3079"/>
              </a:lnSpc>
              <a:buFont typeface="Arial"/>
              <a:buChar char="•"/>
            </a:pPr>
            <a:r>
              <a:rPr lang="en-US" sz="2199">
                <a:solidFill>
                  <a:srgbClr val="FFFFFF"/>
                </a:solidFill>
                <a:latin typeface="Open Sans"/>
                <a:ea typeface="Open Sans"/>
                <a:cs typeface="Open Sans"/>
                <a:sym typeface="Open Sans"/>
              </a:rPr>
              <a:t>By analyzing Invoice + InvoiceLine + Customer, you can see which cities and customers generate the most revenue.</a:t>
            </a:r>
          </a:p>
          <a:p>
            <a:pPr algn="ctr" marL="474979" indent="-237490" lvl="1">
              <a:lnSpc>
                <a:spcPts val="3079"/>
              </a:lnSpc>
              <a:buFont typeface="Arial"/>
              <a:buChar char="•"/>
            </a:pPr>
            <a:r>
              <a:rPr lang="en-US" sz="2199">
                <a:solidFill>
                  <a:srgbClr val="FFFFFF"/>
                </a:solidFill>
                <a:latin typeface="Open Sans"/>
                <a:ea typeface="Open Sans"/>
                <a:cs typeface="Open Sans"/>
                <a:sym typeface="Open Sans"/>
              </a:rPr>
              <a:t>Insight: Management can target high-value customers or regions with promotions.</a:t>
            </a:r>
          </a:p>
          <a:p>
            <a:pPr algn="ctr">
              <a:lnSpc>
                <a:spcPts val="3079"/>
              </a:lnSpc>
            </a:pPr>
          </a:p>
        </p:txBody>
      </p:sp>
      <p:sp>
        <p:nvSpPr>
          <p:cNvPr name="TextBox 17" id="17"/>
          <p:cNvSpPr txBox="true"/>
          <p:nvPr/>
        </p:nvSpPr>
        <p:spPr>
          <a:xfrm rot="0">
            <a:off x="1565562" y="4572360"/>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Revenue Optimization</a:t>
            </a:r>
          </a:p>
        </p:txBody>
      </p:sp>
      <p:sp>
        <p:nvSpPr>
          <p:cNvPr name="TextBox 18" id="18"/>
          <p:cNvSpPr txBox="true"/>
          <p:nvPr/>
        </p:nvSpPr>
        <p:spPr>
          <a:xfrm rot="0">
            <a:off x="7021699" y="5502928"/>
            <a:ext cx="4074854" cy="3496945"/>
          </a:xfrm>
          <a:prstGeom prst="rect">
            <a:avLst/>
          </a:prstGeom>
        </p:spPr>
        <p:txBody>
          <a:bodyPr anchor="t" rtlCol="false" tIns="0" lIns="0" bIns="0" rIns="0">
            <a:spAutoFit/>
          </a:bodyPr>
          <a:lstStyle/>
          <a:p>
            <a:pPr algn="ctr" marL="474979" indent="-237490" lvl="1">
              <a:lnSpc>
                <a:spcPts val="3079"/>
              </a:lnSpc>
              <a:buFont typeface="Arial"/>
              <a:buChar char="•"/>
            </a:pPr>
            <a:r>
              <a:rPr lang="en-US" sz="2199">
                <a:solidFill>
                  <a:srgbClr val="FFFFFF"/>
                </a:solidFill>
                <a:latin typeface="Open Sans"/>
                <a:ea typeface="Open Sans"/>
                <a:cs typeface="Open Sans"/>
                <a:sym typeface="Open Sans"/>
              </a:rPr>
              <a:t>By linking Customer → Invoice → Track → Genre, you identify which customers prefer which genres.</a:t>
            </a:r>
          </a:p>
          <a:p>
            <a:pPr algn="ctr" marL="474979" indent="-237490" lvl="1">
              <a:lnSpc>
                <a:spcPts val="3079"/>
              </a:lnSpc>
              <a:buFont typeface="Arial"/>
              <a:buChar char="•"/>
            </a:pPr>
            <a:r>
              <a:rPr lang="en-US" sz="2199">
                <a:solidFill>
                  <a:srgbClr val="FFFFFF"/>
                </a:solidFill>
                <a:latin typeface="Open Sans"/>
                <a:ea typeface="Open Sans"/>
                <a:cs typeface="Open Sans"/>
                <a:sym typeface="Open Sans"/>
              </a:rPr>
              <a:t>Insight: Personalized campaigns increase engagement and retention.</a:t>
            </a:r>
          </a:p>
          <a:p>
            <a:pPr algn="ctr">
              <a:lnSpc>
                <a:spcPts val="3079"/>
              </a:lnSpc>
            </a:pPr>
          </a:p>
        </p:txBody>
      </p:sp>
      <p:sp>
        <p:nvSpPr>
          <p:cNvPr name="TextBox 19" id="19"/>
          <p:cNvSpPr txBox="true"/>
          <p:nvPr/>
        </p:nvSpPr>
        <p:spPr>
          <a:xfrm rot="0">
            <a:off x="7021699" y="4572360"/>
            <a:ext cx="4244602" cy="400751"/>
          </a:xfrm>
          <a:prstGeom prst="rect">
            <a:avLst/>
          </a:prstGeom>
        </p:spPr>
        <p:txBody>
          <a:bodyPr anchor="t" rtlCol="false" tIns="0" lIns="0" bIns="0" rIns="0">
            <a:spAutoFit/>
          </a:bodyPr>
          <a:lstStyle/>
          <a:p>
            <a:pPr algn="ctr" marL="0" indent="0" lvl="0">
              <a:lnSpc>
                <a:spcPts val="3373"/>
              </a:lnSpc>
              <a:spcBef>
                <a:spcPct val="0"/>
              </a:spcBef>
            </a:pPr>
            <a:r>
              <a:rPr lang="en-US" b="true" sz="2409">
                <a:solidFill>
                  <a:srgbClr val="8D2C91"/>
                </a:solidFill>
                <a:latin typeface="Noto Sans Bold"/>
                <a:ea typeface="Noto Sans Bold"/>
                <a:cs typeface="Noto Sans Bold"/>
                <a:sym typeface="Noto Sans Bold"/>
              </a:rPr>
              <a:t>Customer Segmentation</a:t>
            </a:r>
          </a:p>
        </p:txBody>
      </p:sp>
      <p:sp>
        <p:nvSpPr>
          <p:cNvPr name="TextBox 20" id="20"/>
          <p:cNvSpPr txBox="true"/>
          <p:nvPr/>
        </p:nvSpPr>
        <p:spPr>
          <a:xfrm rot="0">
            <a:off x="12297756" y="5502928"/>
            <a:ext cx="4424682" cy="3887470"/>
          </a:xfrm>
          <a:prstGeom prst="rect">
            <a:avLst/>
          </a:prstGeom>
        </p:spPr>
        <p:txBody>
          <a:bodyPr anchor="t" rtlCol="false" tIns="0" lIns="0" bIns="0" rIns="0">
            <a:spAutoFit/>
          </a:bodyPr>
          <a:lstStyle/>
          <a:p>
            <a:pPr algn="ctr" marL="474979" indent="-237490" lvl="1">
              <a:lnSpc>
                <a:spcPts val="3079"/>
              </a:lnSpc>
              <a:buFont typeface="Arial"/>
              <a:buChar char="•"/>
            </a:pPr>
            <a:r>
              <a:rPr lang="en-US" sz="2199">
                <a:solidFill>
                  <a:srgbClr val="FFFFFF"/>
                </a:solidFill>
                <a:latin typeface="Open Sans"/>
                <a:ea typeface="Open Sans"/>
                <a:cs typeface="Open Sans"/>
                <a:sym typeface="Open Sans"/>
              </a:rPr>
              <a:t>Combining geographic, customer, and genre insights allows business leaders to make decisions backed by data.</a:t>
            </a:r>
          </a:p>
          <a:p>
            <a:pPr algn="ctr" marL="474979" indent="-237490" lvl="1">
              <a:lnSpc>
                <a:spcPts val="3079"/>
              </a:lnSpc>
              <a:buFont typeface="Arial"/>
              <a:buChar char="•"/>
            </a:pPr>
            <a:r>
              <a:rPr lang="en-US" sz="2199">
                <a:solidFill>
                  <a:srgbClr val="FFFFFF"/>
                </a:solidFill>
                <a:latin typeface="Open Sans"/>
                <a:ea typeface="Open Sans"/>
                <a:cs typeface="Open Sans"/>
                <a:sym typeface="Open Sans"/>
              </a:rPr>
              <a:t>Example: Decide which city should host a promotional music festival based on highest total invoice revenue.</a:t>
            </a:r>
          </a:p>
          <a:p>
            <a:pPr algn="ctr">
              <a:lnSpc>
                <a:spcPts val="3079"/>
              </a:lnSpc>
            </a:pPr>
          </a:p>
        </p:txBody>
      </p:sp>
      <p:sp>
        <p:nvSpPr>
          <p:cNvPr name="TextBox 21" id="21"/>
          <p:cNvSpPr txBox="true"/>
          <p:nvPr/>
        </p:nvSpPr>
        <p:spPr>
          <a:xfrm rot="0">
            <a:off x="12477836" y="4572360"/>
            <a:ext cx="4244602" cy="400751"/>
          </a:xfrm>
          <a:prstGeom prst="rect">
            <a:avLst/>
          </a:prstGeom>
        </p:spPr>
        <p:txBody>
          <a:bodyPr anchor="t" rtlCol="false" tIns="0" lIns="0" bIns="0" rIns="0">
            <a:spAutoFit/>
          </a:bodyPr>
          <a:lstStyle/>
          <a:p>
            <a:pPr algn="ctr">
              <a:lnSpc>
                <a:spcPts val="3373"/>
              </a:lnSpc>
              <a:spcBef>
                <a:spcPct val="0"/>
              </a:spcBef>
            </a:pPr>
            <a:r>
              <a:rPr lang="en-US" b="true" sz="2409">
                <a:solidFill>
                  <a:srgbClr val="8D2C91"/>
                </a:solidFill>
                <a:latin typeface="Noto Sans Bold"/>
                <a:ea typeface="Noto Sans Bold"/>
                <a:cs typeface="Noto Sans Bold"/>
                <a:sym typeface="Noto Sans Bold"/>
              </a:rPr>
              <a:t>Data-Driven Decisions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Freeform 3" id="3"/>
          <p:cNvSpPr/>
          <p:nvPr/>
        </p:nvSpPr>
        <p:spPr>
          <a:xfrm flipH="false" flipV="false" rot="0">
            <a:off x="15122682" y="3652696"/>
            <a:ext cx="5753751" cy="6634304"/>
          </a:xfrm>
          <a:custGeom>
            <a:avLst/>
            <a:gdLst/>
            <a:ahLst/>
            <a:cxnLst/>
            <a:rect r="r" b="b" t="t" l="l"/>
            <a:pathLst>
              <a:path h="6634304" w="5753751">
                <a:moveTo>
                  <a:pt x="0" y="0"/>
                </a:moveTo>
                <a:lnTo>
                  <a:pt x="5753751" y="0"/>
                </a:lnTo>
                <a:lnTo>
                  <a:pt x="5753751" y="6634304"/>
                </a:lnTo>
                <a:lnTo>
                  <a:pt x="0" y="6634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95805">
            <a:off x="2540637" y="2986411"/>
            <a:ext cx="13375199" cy="6157374"/>
            <a:chOff x="0" y="0"/>
            <a:chExt cx="3522686" cy="1621695"/>
          </a:xfrm>
        </p:grpSpPr>
        <p:sp>
          <p:nvSpPr>
            <p:cNvPr name="Freeform 5" id="5"/>
            <p:cNvSpPr/>
            <p:nvPr/>
          </p:nvSpPr>
          <p:spPr>
            <a:xfrm flipH="false" flipV="false" rot="0">
              <a:off x="0" y="0"/>
              <a:ext cx="3522686" cy="1621695"/>
            </a:xfrm>
            <a:custGeom>
              <a:avLst/>
              <a:gdLst/>
              <a:ahLst/>
              <a:cxnLst/>
              <a:rect r="r" b="b" t="t" l="l"/>
              <a:pathLst>
                <a:path h="1621695" w="3522686">
                  <a:moveTo>
                    <a:pt x="21995" y="0"/>
                  </a:moveTo>
                  <a:lnTo>
                    <a:pt x="3500691" y="0"/>
                  </a:lnTo>
                  <a:cubicBezTo>
                    <a:pt x="3512838" y="0"/>
                    <a:pt x="3522686" y="9848"/>
                    <a:pt x="3522686" y="21995"/>
                  </a:cubicBezTo>
                  <a:lnTo>
                    <a:pt x="3522686" y="1599700"/>
                  </a:lnTo>
                  <a:cubicBezTo>
                    <a:pt x="3522686" y="1611848"/>
                    <a:pt x="3512838" y="1621695"/>
                    <a:pt x="3500691" y="1621695"/>
                  </a:cubicBezTo>
                  <a:lnTo>
                    <a:pt x="21995" y="1621695"/>
                  </a:lnTo>
                  <a:cubicBezTo>
                    <a:pt x="9848" y="1621695"/>
                    <a:pt x="0" y="1611848"/>
                    <a:pt x="0" y="1599700"/>
                  </a:cubicBezTo>
                  <a:lnTo>
                    <a:pt x="0" y="21995"/>
                  </a:lnTo>
                  <a:cubicBezTo>
                    <a:pt x="0" y="9848"/>
                    <a:pt x="9848" y="0"/>
                    <a:pt x="21995" y="0"/>
                  </a:cubicBezTo>
                  <a:close/>
                </a:path>
              </a:pathLst>
            </a:custGeom>
            <a:solidFill>
              <a:srgbClr val="8D2C91"/>
            </a:solidFill>
            <a:ln w="171450" cap="rnd">
              <a:solidFill>
                <a:srgbClr val="FFC033"/>
              </a:solidFill>
              <a:prstDash val="solid"/>
              <a:round/>
            </a:ln>
          </p:spPr>
        </p:sp>
        <p:sp>
          <p:nvSpPr>
            <p:cNvPr name="TextBox 6" id="6"/>
            <p:cNvSpPr txBox="true"/>
            <p:nvPr/>
          </p:nvSpPr>
          <p:spPr>
            <a:xfrm>
              <a:off x="0" y="-28575"/>
              <a:ext cx="3522686" cy="1650270"/>
            </a:xfrm>
            <a:prstGeom prst="rect">
              <a:avLst/>
            </a:prstGeom>
          </p:spPr>
          <p:txBody>
            <a:bodyPr anchor="ctr" rtlCol="false" tIns="50800" lIns="50800" bIns="50800" rIns="50800"/>
            <a:lstStyle/>
            <a:p>
              <a:pPr algn="ctr">
                <a:lnSpc>
                  <a:spcPts val="2730"/>
                </a:lnSpc>
              </a:pPr>
            </a:p>
          </p:txBody>
        </p:sp>
      </p:grpSp>
      <p:sp>
        <p:nvSpPr>
          <p:cNvPr name="Freeform 7" id="7"/>
          <p:cNvSpPr/>
          <p:nvPr/>
        </p:nvSpPr>
        <p:spPr>
          <a:xfrm flipH="false" flipV="false" rot="0">
            <a:off x="-1913657" y="6868749"/>
            <a:ext cx="4415742" cy="2914390"/>
          </a:xfrm>
          <a:custGeom>
            <a:avLst/>
            <a:gdLst/>
            <a:ahLst/>
            <a:cxnLst/>
            <a:rect r="r" b="b" t="t" l="l"/>
            <a:pathLst>
              <a:path h="2914390" w="4415742">
                <a:moveTo>
                  <a:pt x="0" y="0"/>
                </a:moveTo>
                <a:lnTo>
                  <a:pt x="4415742" y="0"/>
                </a:lnTo>
                <a:lnTo>
                  <a:pt x="4415742" y="2914390"/>
                </a:lnTo>
                <a:lnTo>
                  <a:pt x="0" y="29143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22582" y="1203055"/>
            <a:ext cx="2783226" cy="2287306"/>
          </a:xfrm>
          <a:custGeom>
            <a:avLst/>
            <a:gdLst/>
            <a:ahLst/>
            <a:cxnLst/>
            <a:rect r="r" b="b" t="t" l="l"/>
            <a:pathLst>
              <a:path h="2287306" w="2783226">
                <a:moveTo>
                  <a:pt x="0" y="0"/>
                </a:moveTo>
                <a:lnTo>
                  <a:pt x="2783225" y="0"/>
                </a:lnTo>
                <a:lnTo>
                  <a:pt x="2783225" y="2287305"/>
                </a:lnTo>
                <a:lnTo>
                  <a:pt x="0" y="22873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158362" y="1431655"/>
            <a:ext cx="14139749" cy="990601"/>
          </a:xfrm>
          <a:prstGeom prst="rect">
            <a:avLst/>
          </a:prstGeom>
        </p:spPr>
        <p:txBody>
          <a:bodyPr anchor="t" rtlCol="false" tIns="0" lIns="0" bIns="0" rIns="0">
            <a:spAutoFit/>
          </a:bodyPr>
          <a:lstStyle/>
          <a:p>
            <a:pPr algn="ctr" marL="0" indent="0" lvl="0">
              <a:lnSpc>
                <a:spcPts val="7200"/>
              </a:lnSpc>
            </a:pPr>
            <a:r>
              <a:rPr lang="en-US" b="true" sz="8000" spc="-256">
                <a:solidFill>
                  <a:srgbClr val="FFC033"/>
                </a:solidFill>
                <a:latin typeface="Noto Sans Bold"/>
                <a:ea typeface="Noto Sans Bold"/>
                <a:cs typeface="Noto Sans Bold"/>
                <a:sym typeface="Noto Sans Bold"/>
              </a:rPr>
              <a:t>CONCL</a:t>
            </a:r>
            <a:r>
              <a:rPr lang="en-US" b="true" sz="8000" spc="-256" strike="noStrike" u="none">
                <a:solidFill>
                  <a:srgbClr val="FFC033"/>
                </a:solidFill>
                <a:latin typeface="Noto Sans Bold"/>
                <a:ea typeface="Noto Sans Bold"/>
                <a:cs typeface="Noto Sans Bold"/>
                <a:sym typeface="Noto Sans Bold"/>
              </a:rPr>
              <a:t>USION</a:t>
            </a:r>
          </a:p>
        </p:txBody>
      </p:sp>
      <p:sp>
        <p:nvSpPr>
          <p:cNvPr name="TextBox 10" id="10"/>
          <p:cNvSpPr txBox="true"/>
          <p:nvPr/>
        </p:nvSpPr>
        <p:spPr>
          <a:xfrm rot="179048">
            <a:off x="4904558" y="589984"/>
            <a:ext cx="8489204"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8D2C91"/>
                </a:solidFill>
                <a:latin typeface="Noto Sans Bold"/>
                <a:ea typeface="Noto Sans Bold"/>
                <a:cs typeface="Noto Sans Bold"/>
                <a:sym typeface="Noto Sans Bold"/>
              </a:rPr>
              <a:t>Conclusion</a:t>
            </a:r>
          </a:p>
        </p:txBody>
      </p:sp>
      <p:sp>
        <p:nvSpPr>
          <p:cNvPr name="TextBox 11" id="11"/>
          <p:cNvSpPr txBox="true"/>
          <p:nvPr/>
        </p:nvSpPr>
        <p:spPr>
          <a:xfrm rot="-95805">
            <a:off x="2572702" y="3601817"/>
            <a:ext cx="12858391" cy="5380991"/>
          </a:xfrm>
          <a:prstGeom prst="rect">
            <a:avLst/>
          </a:prstGeom>
        </p:spPr>
        <p:txBody>
          <a:bodyPr anchor="t" rtlCol="false" tIns="0" lIns="0" bIns="0" rIns="0">
            <a:spAutoFit/>
          </a:bodyPr>
          <a:lstStyle/>
          <a:p>
            <a:pPr algn="just" marL="734053" indent="-367026" lvl="1">
              <a:lnSpc>
                <a:spcPts val="4759"/>
              </a:lnSpc>
              <a:buFont typeface="Arial"/>
              <a:buChar char="•"/>
            </a:pPr>
            <a:r>
              <a:rPr lang="en-US" sz="3399">
                <a:solidFill>
                  <a:srgbClr val="FFFFFF"/>
                </a:solidFill>
                <a:latin typeface="Open Sans"/>
                <a:ea typeface="Open Sans"/>
                <a:cs typeface="Open Sans"/>
                <a:sym typeface="Open Sans"/>
              </a:rPr>
              <a:t>Applied SQL to analyze a music store database and extract actionable insights.</a:t>
            </a:r>
          </a:p>
          <a:p>
            <a:pPr algn="just" marL="734053" indent="-367026" lvl="1">
              <a:lnSpc>
                <a:spcPts val="4759"/>
              </a:lnSpc>
              <a:buFont typeface="Arial"/>
              <a:buChar char="•"/>
            </a:pPr>
            <a:r>
              <a:rPr lang="en-US" sz="3399">
                <a:solidFill>
                  <a:srgbClr val="FFFFFF"/>
                </a:solidFill>
                <a:latin typeface="Open Sans"/>
                <a:ea typeface="Open Sans"/>
                <a:cs typeface="Open Sans"/>
                <a:sym typeface="Open Sans"/>
              </a:rPr>
              <a:t>Identified top customers, high-revenue cities, popular genres, and top-performing artists.</a:t>
            </a:r>
          </a:p>
          <a:p>
            <a:pPr algn="just" marL="734053" indent="-367026" lvl="1">
              <a:lnSpc>
                <a:spcPts val="4759"/>
              </a:lnSpc>
              <a:buFont typeface="Arial"/>
              <a:buChar char="•"/>
            </a:pPr>
            <a:r>
              <a:rPr lang="en-US" sz="3399">
                <a:solidFill>
                  <a:srgbClr val="FFFFFF"/>
                </a:solidFill>
                <a:latin typeface="Open Sans"/>
                <a:ea typeface="Open Sans"/>
                <a:cs typeface="Open Sans"/>
                <a:sym typeface="Open Sans"/>
              </a:rPr>
              <a:t>Converted raw transactional data into business insights for marketing and growth strategies.</a:t>
            </a:r>
          </a:p>
          <a:p>
            <a:pPr algn="just" marL="734053" indent="-367026" lvl="1">
              <a:lnSpc>
                <a:spcPts val="4759"/>
              </a:lnSpc>
              <a:buFont typeface="Arial"/>
              <a:buChar char="•"/>
            </a:pPr>
            <a:r>
              <a:rPr lang="en-US" sz="3399">
                <a:solidFill>
                  <a:srgbClr val="FFFFFF"/>
                </a:solidFill>
                <a:latin typeface="Open Sans"/>
                <a:ea typeface="Open Sans"/>
                <a:cs typeface="Open Sans"/>
                <a:sym typeface="Open Sans"/>
              </a:rPr>
              <a:t>Demonstrated strong data wrangling, aggregation, and analytical problem-solving skills.</a:t>
            </a:r>
          </a:p>
          <a:p>
            <a:pPr algn="just">
              <a:lnSpc>
                <a:spcPts val="475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5073" r="0" b="-52703"/>
            </a:stretch>
          </a:blipFill>
        </p:spPr>
      </p:sp>
      <p:sp>
        <p:nvSpPr>
          <p:cNvPr name="TextBox 3" id="3"/>
          <p:cNvSpPr txBox="true"/>
          <p:nvPr/>
        </p:nvSpPr>
        <p:spPr>
          <a:xfrm rot="0">
            <a:off x="1813122" y="3014238"/>
            <a:ext cx="14661756" cy="4557934"/>
          </a:xfrm>
          <a:prstGeom prst="rect">
            <a:avLst/>
          </a:prstGeom>
        </p:spPr>
        <p:txBody>
          <a:bodyPr anchor="t" rtlCol="false" tIns="0" lIns="0" bIns="0" rIns="0">
            <a:spAutoFit/>
          </a:bodyPr>
          <a:lstStyle/>
          <a:p>
            <a:pPr algn="ctr" marL="0" indent="0" lvl="0">
              <a:lnSpc>
                <a:spcPts val="17253"/>
              </a:lnSpc>
            </a:pPr>
            <a:r>
              <a:rPr lang="en-US" b="true" sz="19170" spc="-613">
                <a:solidFill>
                  <a:srgbClr val="FFC033"/>
                </a:solidFill>
                <a:latin typeface="Noto Sans Bold"/>
                <a:ea typeface="Noto Sans Bold"/>
                <a:cs typeface="Noto Sans Bold"/>
                <a:sym typeface="Noto Sans Bold"/>
              </a:rPr>
              <a:t>THANKS</a:t>
            </a:r>
          </a:p>
          <a:p>
            <a:pPr algn="ctr" marL="0" indent="0" lvl="0">
              <a:lnSpc>
                <a:spcPts val="17253"/>
              </a:lnSpc>
            </a:pPr>
            <a:r>
              <a:rPr lang="en-US" b="true" sz="19170" spc="-613" strike="noStrike" u="none">
                <a:solidFill>
                  <a:srgbClr val="FFC033"/>
                </a:solidFill>
                <a:latin typeface="Noto Sans Bold"/>
                <a:ea typeface="Noto Sans Bold"/>
                <a:cs typeface="Noto Sans Bold"/>
                <a:sym typeface="Noto Sans Bold"/>
              </a:rPr>
              <a:t>A LOT!</a:t>
            </a:r>
          </a:p>
        </p:txBody>
      </p:sp>
      <p:sp>
        <p:nvSpPr>
          <p:cNvPr name="Freeform 4" id="4"/>
          <p:cNvSpPr/>
          <p:nvPr/>
        </p:nvSpPr>
        <p:spPr>
          <a:xfrm flipH="false" flipV="false" rot="0">
            <a:off x="14651854" y="1932484"/>
            <a:ext cx="4930933" cy="4052330"/>
          </a:xfrm>
          <a:custGeom>
            <a:avLst/>
            <a:gdLst/>
            <a:ahLst/>
            <a:cxnLst/>
            <a:rect r="r" b="b" t="t" l="l"/>
            <a:pathLst>
              <a:path h="4052330" w="4930933">
                <a:moveTo>
                  <a:pt x="0" y="0"/>
                </a:moveTo>
                <a:lnTo>
                  <a:pt x="4930933" y="0"/>
                </a:lnTo>
                <a:lnTo>
                  <a:pt x="4930933" y="4052330"/>
                </a:lnTo>
                <a:lnTo>
                  <a:pt x="0" y="40523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674886">
            <a:off x="1246265" y="5302989"/>
            <a:ext cx="2907435" cy="3853227"/>
          </a:xfrm>
          <a:custGeom>
            <a:avLst/>
            <a:gdLst/>
            <a:ahLst/>
            <a:cxnLst/>
            <a:rect r="r" b="b" t="t" l="l"/>
            <a:pathLst>
              <a:path h="3853227" w="2907435">
                <a:moveTo>
                  <a:pt x="0" y="0"/>
                </a:moveTo>
                <a:lnTo>
                  <a:pt x="2907435" y="0"/>
                </a:lnTo>
                <a:lnTo>
                  <a:pt x="2907435" y="3853227"/>
                </a:lnTo>
                <a:lnTo>
                  <a:pt x="0" y="38532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1898960" y="7404753"/>
            <a:ext cx="7315200" cy="2207860"/>
          </a:xfrm>
          <a:custGeom>
            <a:avLst/>
            <a:gdLst/>
            <a:ahLst/>
            <a:cxnLst/>
            <a:rect r="r" b="b" t="t" l="l"/>
            <a:pathLst>
              <a:path h="2207860" w="7315200">
                <a:moveTo>
                  <a:pt x="0" y="0"/>
                </a:moveTo>
                <a:lnTo>
                  <a:pt x="7315200" y="0"/>
                </a:lnTo>
                <a:lnTo>
                  <a:pt x="7315200" y="2207861"/>
                </a:lnTo>
                <a:lnTo>
                  <a:pt x="0" y="22078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14714" y="-849771"/>
            <a:ext cx="3055788" cy="5062300"/>
          </a:xfrm>
          <a:custGeom>
            <a:avLst/>
            <a:gdLst/>
            <a:ahLst/>
            <a:cxnLst/>
            <a:rect r="r" b="b" t="t" l="l"/>
            <a:pathLst>
              <a:path h="5062300" w="3055788">
                <a:moveTo>
                  <a:pt x="0" y="0"/>
                </a:moveTo>
                <a:lnTo>
                  <a:pt x="3055789" y="0"/>
                </a:lnTo>
                <a:lnTo>
                  <a:pt x="3055789" y="5062300"/>
                </a:lnTo>
                <a:lnTo>
                  <a:pt x="0" y="50623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5400000">
            <a:off x="11316456" y="108671"/>
            <a:ext cx="1827748" cy="2343267"/>
          </a:xfrm>
          <a:custGeom>
            <a:avLst/>
            <a:gdLst/>
            <a:ahLst/>
            <a:cxnLst/>
            <a:rect r="r" b="b" t="t" l="l"/>
            <a:pathLst>
              <a:path h="2343267" w="1827748">
                <a:moveTo>
                  <a:pt x="0" y="0"/>
                </a:moveTo>
                <a:lnTo>
                  <a:pt x="1827748" y="0"/>
                </a:lnTo>
                <a:lnTo>
                  <a:pt x="1827748" y="2343266"/>
                </a:lnTo>
                <a:lnTo>
                  <a:pt x="0" y="2343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4886512" y="8123946"/>
            <a:ext cx="6141614" cy="3327638"/>
          </a:xfrm>
          <a:custGeom>
            <a:avLst/>
            <a:gdLst/>
            <a:ahLst/>
            <a:cxnLst/>
            <a:rect r="r" b="b" t="t" l="l"/>
            <a:pathLst>
              <a:path h="3327638" w="6141614">
                <a:moveTo>
                  <a:pt x="0" y="0"/>
                </a:moveTo>
                <a:lnTo>
                  <a:pt x="6141613" y="0"/>
                </a:lnTo>
                <a:lnTo>
                  <a:pt x="6141613" y="3327638"/>
                </a:lnTo>
                <a:lnTo>
                  <a:pt x="0" y="33276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5719603" y="614484"/>
            <a:ext cx="2097034" cy="1856829"/>
          </a:xfrm>
          <a:custGeom>
            <a:avLst/>
            <a:gdLst/>
            <a:ahLst/>
            <a:cxnLst/>
            <a:rect r="r" b="b" t="t" l="l"/>
            <a:pathLst>
              <a:path h="1856829" w="2097034">
                <a:moveTo>
                  <a:pt x="0" y="0"/>
                </a:moveTo>
                <a:lnTo>
                  <a:pt x="2097034" y="0"/>
                </a:lnTo>
                <a:lnTo>
                  <a:pt x="2097034" y="1856829"/>
                </a:lnTo>
                <a:lnTo>
                  <a:pt x="0" y="18568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1" id="11"/>
          <p:cNvSpPr txBox="true"/>
          <p:nvPr/>
        </p:nvSpPr>
        <p:spPr>
          <a:xfrm rot="179048">
            <a:off x="4901866" y="4734678"/>
            <a:ext cx="8489204" cy="811027"/>
          </a:xfrm>
          <a:prstGeom prst="rect">
            <a:avLst/>
          </a:prstGeom>
        </p:spPr>
        <p:txBody>
          <a:bodyPr anchor="t" rtlCol="false" tIns="0" lIns="0" bIns="0" rIns="0">
            <a:spAutoFit/>
          </a:bodyPr>
          <a:lstStyle/>
          <a:p>
            <a:pPr algn="ctr" marL="0" indent="0" lvl="0">
              <a:lnSpc>
                <a:spcPts val="6747"/>
              </a:lnSpc>
              <a:spcBef>
                <a:spcPct val="0"/>
              </a:spcBef>
            </a:pPr>
            <a:r>
              <a:rPr lang="en-US" b="true" sz="4819">
                <a:solidFill>
                  <a:srgbClr val="8D2C91"/>
                </a:solidFill>
                <a:latin typeface="Noto Sans Bold"/>
                <a:ea typeface="Noto Sans Bold"/>
                <a:cs typeface="Noto Sans Bold"/>
                <a:sym typeface="Noto Sans Bold"/>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DAHAtfBSC-U</dc:identifier>
  <dcterms:modified xsi:type="dcterms:W3CDTF">2011-08-01T06:04:30Z</dcterms:modified>
  <cp:revision>1</cp:revision>
  <dc:title>Purple and Pink Retro Music Industry Presentation</dc:title>
</cp:coreProperties>
</file>